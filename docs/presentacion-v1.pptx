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la propuesta v1: qué problema resolvemos, para quién, cuál es el MVP y con qué stack lo construimos.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la información está repartida entre planillas, homebanking y chats. El club no sabe rápido quién debe la cuota y los cupos de actividades se manejan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roles con tres vistas. El admin general administra la plataforma, el admin de club gestiona su institución y el socio se autogestiona.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MVP cubre los tres roles con lo mínimo para que el flujo funcione completo. Lo que queda afuera está explícito y pasa al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Recortamos dos cosas que suman mucha complejidad y poco valor para la demo: subdominios y pagos online. Ambas están preparadas en el diseño para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Usamos Next.js como full-stack: la UI y el servidor viven en el mismo proyecto. Elegimos Postgres porque el dominio es relacional y necesitamos transacciones para no superar cupos. NextAuth guarda rol y club en el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Siete tablas. El aislamiento entre clubes se resuelve con clubId en cada tabla. Las restricciones únicas evitan pagar dos veces el mismo mes o inscribirse dos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Recorremos el flujo completo con los usuarios demo: admin general, admin del club y socio. La natación tiene cupo 2 para mostrar el bloqueo por cupo.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Próximos pasos: pagos online, subdominios, calendario y notificaciones. El código y la documentación están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89520" y="914400"/>
            <a:ext cx="5120640" cy="5120640"/>
          </a:xfrm>
          <a:prstGeom prst="ellipse">
            <a:avLst/>
          </a:prstGeom>
          <a:noFill/>
          <a:ln w="38100">
            <a:solidFill>
              <a:srgbClr val="2A5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012680" y="3337560"/>
            <a:ext cx="274320" cy="274320"/>
          </a:xfrm>
          <a:prstGeom prst="ellipse">
            <a:avLst/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A93B"/>
                </a:solidFill>
                <a:latin typeface="Arial"/>
              </a:rPr>
              <a:t>TP FINAL · IISAIA · FIUBA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Arial"/>
              </a:rPr>
              <a:t>Gestión de Socios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F3EC"/>
                </a:solidFill>
                <a:latin typeface="Calibri"/>
              </a:rPr>
              <a:t>App web multi-tenant para clubes deportivos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2A93B"/>
                </a:solidFill>
                <a:latin typeface="Calibri"/>
              </a:rPr>
              <a:t>Propuesta v1 · MVP y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400" b="1" i="0">
                <a:solidFill>
                  <a:srgbClr val="0E3B2E"/>
                </a:solidFill>
                <a:latin typeface="Arial"/>
              </a:rPr>
              <a:t>Los clubes chicos y medianos gestionan socios, cuotas e inscripciones con planillas y WhatsApp.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7A4F"/>
                </a:solidFill>
                <a:latin typeface="Calibri"/>
              </a:rPr>
              <a:t>Objetivo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Un espacio por club para administrar padrón, cobros y actividades, y autogestión para cada socio.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5544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537960" y="193852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Información dispersa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Padrón en planillas, pagos en el banco, inscripciones por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0175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537960" y="340156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24612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¿Quién está al día?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No hay una vista simple de las cuotas pendientes del 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48056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537960" y="4864608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7091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Cupos sin control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Las actividades se sobrecargan o quedan lugares sin usar.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Tres tipos de usuario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Cada club tiene su propio espacio; los datos nunca se mezclan entre clubes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2A93B"/>
                </a:solidFill>
                <a:latin typeface="Arial"/>
              </a:rPr>
              <a:t>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Admin general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Equipo de la plataforma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7A4F"/>
                </a:solidFill>
                <a:latin typeface="Courier New"/>
              </a:rPr>
              <a:t>/admin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Da de alta clubes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Asigna el administrador de cada club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63440" y="1965960"/>
            <a:ext cx="685800" cy="6858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2A93B"/>
                </a:solidFill>
                <a:latin typeface="Arial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8346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Admin de club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Secretaría / comisión directiva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7033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7A4F"/>
                </a:solidFill>
                <a:latin typeface="Courier New"/>
              </a:rPr>
              <a:t>/c/mi-club/admin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16052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Gestiona socios y tipos de socio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Registra cobros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Arma actividades con cupo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58200" y="1965960"/>
            <a:ext cx="685800" cy="68580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2A93B"/>
                </a:solidFill>
                <a:latin typeface="Arial"/>
              </a:rP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8346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Socio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Miembro del club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7033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E7A4F"/>
                </a:solidFill>
                <a:latin typeface="Courier New"/>
              </a:rPr>
              <a:t>/c/mi-club/socio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16052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Consulta su cuota y pagos</a:t>
            </a:r>
          </a:p>
          <a:p>
            <a:pPr algn="l" marL="201168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Se inscribe a actividades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MVP v1: lo mínimo, de punta a punta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Un recorrido completo por cada rol antes de sumar funcionalidades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758952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31520" y="2029968"/>
            <a:ext cx="1920240" cy="512064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Admin 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82880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Crear club (nombre + slug) y asignar su administrador por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758952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31520" y="3401568"/>
            <a:ext cx="1920240" cy="512064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Admin de 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320040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Tipos de socio y cuota · alta, edición y baja de socios · registro de pagos · actividades con cupo · resumen del 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34840"/>
            <a:ext cx="758952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731520" y="4773168"/>
            <a:ext cx="1920240" cy="512064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457200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Login · estado de cuota e historial de pagos · inscribirse o cancelar actividades respetando el cupo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691640"/>
            <a:ext cx="3200400" cy="393192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32520" y="1920240"/>
            <a:ext cx="2743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Fuera de v1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600" b="0" i="0">
                <a:solidFill>
                  <a:srgbClr val="FFFFFF"/>
                </a:solidFill>
                <a:latin typeface="Calibri"/>
              </a:rPr>
              <a:t>Pago online (Mercado Pago)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600" b="0" i="0">
                <a:solidFill>
                  <a:srgbClr val="FFFFFF"/>
                </a:solidFill>
                <a:latin typeface="Calibri"/>
              </a:rPr>
              <a:t>Subdominio por club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600" b="0" i="0">
                <a:solidFill>
                  <a:srgbClr val="FFFFFF"/>
                </a:solidFill>
                <a:latin typeface="Calibri"/>
              </a:rPr>
              <a:t>Calendario de eventos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Notificaciones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Reportes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Dos recortes para llegar a una v1 funcional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Multi-tenant por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B6770"/>
                </a:solidFill>
                <a:latin typeface="Calibri"/>
              </a:rPr>
              <a:t>IDEA ORIGINAL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06040"/>
            <a:ext cx="46634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club.gestiondesocios.com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46120" y="3200400"/>
            <a:ext cx="0" cy="41148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6576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EN LA V1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4663440" cy="54864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gestiondesocios.com/c/club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Evita DNS wildcard y dominio propio. La base ya es multi-tenant: pasar a subdominios es solo cambiar el ruteo.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83680" y="169164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E3B2E"/>
                </a:solidFill>
                <a:latin typeface="Arial"/>
              </a:rPr>
              <a:t>Cobros manuales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B6770"/>
                </a:solidFill>
                <a:latin typeface="Calibri"/>
              </a:rPr>
              <a:t>IDEA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606040"/>
            <a:ext cx="46634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770"/>
                </a:solidFill>
                <a:latin typeface="Calibri"/>
              </a:rPr>
              <a:t>Pago online con pasarela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15400" y="3200400"/>
            <a:ext cx="0" cy="41148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0" y="36576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EN LA V1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931920"/>
            <a:ext cx="4663440" cy="54864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El admin registra efectivo o transferencia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El modelo Pago ya guarda período, monto y medio. La pasarela se conecta en v2 sin cambiar datos.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Stack y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770"/>
                </a:solidFill>
                <a:latin typeface="Calibri"/>
              </a:rPr>
              <a:t>Un solo proyecto Next.js: interfaz, servidor y API en un único deploy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828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Navegador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770"/>
                </a:solidFill>
                <a:latin typeface="Calibri"/>
              </a:rPr>
              <a:t>React · Tailwind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69164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429000" y="1828800"/>
            <a:ext cx="26517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Next.js 15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E7F3EC"/>
                </a:solidFill>
                <a:latin typeface="Calibri"/>
              </a:rPr>
              <a:t>Server Components
Server Actions · API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691640"/>
            <a:ext cx="2103120" cy="13716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0" y="182880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Prisma ORM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770"/>
                </a:solidFill>
                <a:latin typeface="Calibri"/>
              </a:rPr>
              <a:t>Esquema tipado
Transacciones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72600" y="169164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55480" y="1828800"/>
            <a:ext cx="192024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PostgreSQL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770"/>
                </a:solidFill>
                <a:latin typeface="Calibri"/>
              </a:rPr>
              <a:t>Multi-tenant
por clubId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2377440"/>
            <a:ext cx="411480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09359" y="2377440"/>
            <a:ext cx="411481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915400" y="2377440"/>
            <a:ext cx="411480" cy="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3108960"/>
            <a:ext cx="0" cy="365760"/>
          </a:xfrm>
          <a:prstGeom prst="line">
            <a:avLst/>
          </a:prstGeom>
          <a:ln w="25400">
            <a:solidFill>
              <a:srgbClr val="1E7A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46120" y="352044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E3B2E"/>
                </a:solidFill>
                <a:latin typeface="Calibri"/>
              </a:rPr>
              <a:t>NextAuth · Google + JWT (rol y club)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470916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INTERFAZ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Next.js · React
TypeScript · Tailwind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452628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93592" y="470916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SERVIDOR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Route Handlers y Server Actions (Node) · Zod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452628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9944" y="470916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DATOS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PostgreSQL · Prisma
Neon en producción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4526280"/>
            <a:ext cx="2606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26296" y="470916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1E7A4F"/>
                </a:solidFill>
                <a:latin typeface="Calibri"/>
              </a:rPr>
              <a:t>INFRA Y CALIDAD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Docker · Codespaces
Vercel ·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Modelo de datos multi-tenant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194560" cy="3108960"/>
          </a:xfrm>
          <a:prstGeom prst="roundRect">
            <a:avLst>
              <a:gd name="adj" fmla="val 8000"/>
            </a:avLst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7830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Club</a:t>
            </a:r>
          </a:p>
          <a:p>
            <a:pPr algn="l">
              <a:spcAft>
                <a:spcPts val="2400"/>
              </a:spcAft>
            </a:pPr>
            <a:r>
              <a:rPr sz="1200" b="0" i="0">
                <a:solidFill>
                  <a:srgbClr val="E7F3EC"/>
                </a:solidFill>
                <a:latin typeface="Courier New"/>
              </a:rPr>
              <a:t>id · nombre · slug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2A93B"/>
                </a:solidFill>
                <a:latin typeface="Calibri"/>
              </a:rPr>
              <a:t>Todas las tablas llevan clubId y toda consulta filtra por él.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0" y="150876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Usuario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email (único)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rol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clubId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50876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Socio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nroSocio · dni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nombre · apellido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tipoSocioId · activo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37160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0" y="150876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TipoSocio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nombre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cuotaMensual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29184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83280" y="3429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Pago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periodo YYYY-MM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monto · medio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único(socio, periodo)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29184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Inscripcion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actividadId · socioId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único(actividad, socio)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291840"/>
            <a:ext cx="2606040" cy="118872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 w="15875">
            <a:solidFill>
              <a:srgbClr val="D5E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0" y="342900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3B2E"/>
                </a:solidFill>
                <a:latin typeface="Arial"/>
              </a:rPr>
              <a:t>Actividad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diaSemana · hora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F2933"/>
                </a:solidFill>
                <a:latin typeface="Courier New"/>
              </a:rPr>
              <a:t>cupo · activa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06440" y="1965960"/>
            <a:ext cx="274320" cy="0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686800" y="1965960"/>
            <a:ext cx="365760" cy="0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120640" y="2560320"/>
            <a:ext cx="1188720" cy="731520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06640" y="2560320"/>
            <a:ext cx="0" cy="731520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686800" y="3886200"/>
            <a:ext cx="365760" cy="0"/>
          </a:xfrm>
          <a:prstGeom prst="line">
            <a:avLst/>
          </a:prstGeom>
          <a:ln w="19050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00400" y="484632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1E7A4F"/>
                </a:solidFill>
                <a:latin typeface="Calibri"/>
              </a:rPr>
              <a:t>Al día = existe un Pago del período actual (se calcula, no se guarda).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3B2E"/>
                </a:solidFill>
                <a:latin typeface="Arial"/>
              </a:rPr>
              <a:t>Demo v1 y verificación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El admin general crea un club y asigna su administrador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2194560"/>
            <a:ext cx="0" cy="36576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48640" y="2606039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06039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El admin del club carga tipo de socio, socio y pago del mes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3291839"/>
            <a:ext cx="0" cy="365760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8640" y="370332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0332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El tablero muestra socios al día, pendientes y recaudación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4389120"/>
            <a:ext cx="0" cy="365759"/>
          </a:xfrm>
          <a:prstGeom prst="line">
            <a:avLst/>
          </a:prstGeom>
          <a:ln w="25400">
            <a:solidFill>
              <a:srgbClr val="D5E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4800600"/>
            <a:ext cx="640080" cy="640080"/>
          </a:xfrm>
          <a:prstGeom prst="ellipse">
            <a:avLst/>
          </a:prstGeom>
          <a:solidFill>
            <a:srgbClr val="0E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2A93B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80060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3"/>
                </a:solidFill>
                <a:latin typeface="Calibri"/>
              </a:rPr>
              <a:t>El socio ingresa, ve su cuota y se inscribe hasta agotar el cupo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508760"/>
            <a:ext cx="4343400" cy="3794760"/>
          </a:xfrm>
          <a:prstGeom prst="roundRect">
            <a:avLst>
              <a:gd name="adj" fmla="val 8000"/>
            </a:avLst>
          </a:prstGeom>
          <a:solidFill>
            <a:srgbClr val="E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5240" y="1783080"/>
            <a:ext cx="3749039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0E3B2E"/>
                </a:solidFill>
                <a:latin typeface="Arial"/>
              </a:rPr>
              <a:t>Calidad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Tests unitarios (Vitest): validación, permisos multi-tenant y cálculo de cuota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CI en GitHub Actions: typecheck, tests y build contra Postgres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Entorno reproducible con Docker Compose y Codespaces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Datos demo con seed para la presentación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Roadmap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7F3EC"/>
                </a:solidFill>
                <a:latin typeface="Calibri"/>
              </a:rPr>
              <a:t>Lo que dejamos preparado en el diseño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59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Pago online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Mercado Pago y cuota mensual automática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3639312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Subdominios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club.gestiondesocios.com sobre el mismo modelo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55664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Calendario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Eventos puntuales y reserva de turnos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920240"/>
            <a:ext cx="2606040" cy="2560320"/>
          </a:xfrm>
          <a:prstGeom prst="roundRect">
            <a:avLst>
              <a:gd name="adj" fmla="val 8000"/>
            </a:avLst>
          </a:prstGeom>
          <a:solidFill>
            <a:srgbClr val="2A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72016" y="2194560"/>
            <a:ext cx="502920" cy="502920"/>
          </a:xfrm>
          <a:prstGeom prst="ellipse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E3B2E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971800"/>
            <a:ext cx="2103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Avisos y reportes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7F3EC"/>
                </a:solidFill>
                <a:latin typeface="Calibri"/>
              </a:rPr>
              <a:t>Vencimientos, morosidad y asistencia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2A93B"/>
                </a:solidFill>
                <a:latin typeface="Courier New"/>
              </a:rPr>
              <a:t>github.com/ivollonoc/IISAIA-TF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