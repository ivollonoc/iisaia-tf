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v1 mostramos un MVP multi-tenant con lo mínimo por rol. Hoy presentamos la v2: qué agregamos, cómo lo construimos y una demo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Recordemos el punto de partida: la información está repartida entre planillas, homebanking y chats. El club no sabe rápido quién debe la cuota y los cupos de actividades se manejan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v1 llegamos a un MVP de punta a punta: cada rol tenía su recorrido mínimo funcionando. Hicimos dos recortes conscientes, multi-tenant por ruta y cobros registrados a mano por el club, y dejamos el diseño preparado para crecer. Eso es lo que la v2 retoma.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reescribimos: iteramos sobre la v1 en nueve etapas. Cada una tuvo su spec, su plan y su implementación, y se cerró con typecheck, tests y build en verde. La etapa 0 no cambió comportamiento: migraciones, tests de integración y modularización.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de pagos de la v1 quedó chico. Ahora cada socio tiene una cuenta corriente con cargos y pagos; el club ve sus acreditaciones. Se pagan cargos completos, online con una pasarela simulada o en ventanilla. El titular de un grupo familiar paga por todos.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Unificamos actividades y calendario en una sola agenda. Las clases no se guardan: se calculan desde los horarios y solo persistimos las excepciones. Pasamos de inscripción mensual a reserva por clase, con cupo, lista de espera y precio por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servicios notifican por llamada directa, sin bus de eventos. In-app siempre; mail y SMS según lo que active cada club, simulados detrás de una interfaz Canal. Sacamos Google: se ingresa con link mágico o invitación por 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clubes reales hacía falta cargar el padrón de una vez: importación CSV con vista previa y confirmación todo o nada. Sumamos grupo familiar con un titular que paga, y reportes del club con KPIs, recaudación, morosidad, ocupación y puntaje de actividades.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v1 dijimos que pasar a subdominios era solo cambiar el ruteo, y así fue: un middleware reescribe el subdominio a la ruta interna del club. Cada club tiene además su página pública.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Reorganizamos el código por dominio. Lo externo (pagos, mails, SMS) vive detrás de interfaces, así lo simulado se cambia por un proveedor real. Pasamos de db push a migraciones y sumamos tests de integración contra Postgres real, que corren en el CI en cada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Recorrido de un minuto: la socia reserva, cae en lista de espera, se inscribe a un evento pago y paga online. Del lado del club, el pago se acredita, la suspensión de la clase notifica a quienes reservaron y los reportes reflejan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pagos, mails y SMS ya están detrás de interfaces: el próximo paso es conectar proveedores reales. Quedan anotados el carnet digital con QR y la automatización de vencimientos. ¡Gracias!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89520" y="914400"/>
            <a:ext cx="5120640" cy="5120640"/>
          </a:xfrm>
          <a:prstGeom prst="ellipse">
            <a:avLst/>
          </a:prstGeom>
          <a:noFill/>
          <a:ln w="38100">
            <a:solidFill>
              <a:srgbClr val="2A5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012680" y="3337560"/>
            <a:ext cx="274320" cy="274320"/>
          </a:xfrm>
          <a:prstGeom prst="ellipse">
            <a:avLst/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A93B"/>
                </a:solidFill>
                <a:latin typeface="Arial"/>
              </a:rPr>
              <a:t>TP FINAL · IISAIA · FIUBA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Arial"/>
              </a:rPr>
              <a:t>Gestión de Socios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F3EC"/>
                </a:solidFill>
                <a:latin typeface="Calibri"/>
              </a:rPr>
              <a:t>Del MVP a una plataforma completa para clubes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2A93B"/>
                </a:solidFill>
                <a:latin typeface="Calibri"/>
              </a:rPr>
              <a:t>Propuesta v2 · clubdesocios.com.ar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400" b="1" i="0">
                <a:solidFill>
                  <a:srgbClr val="0E3B2E"/>
                </a:solidFill>
                <a:latin typeface="Arial"/>
              </a:rPr>
              <a:t>Los clubes chicos y medianos gestionan socios, cuotas e inscripciones con planillas y WhatsApp.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7A4F"/>
                </a:solidFill>
                <a:latin typeface="Calibri"/>
              </a:rPr>
              <a:t>Objetivo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Un espacio por club para administrar padrón, cobros y actividades, y autogestión para cada socio.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5544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537960" y="193852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Información dispersa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Padrón en planillas, pagos en el banco, inscripciones por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0175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537960" y="340156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24612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¿Quién está al día?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No hay una vista simple de las cuotas pendientes del 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48056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537960" y="486460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7091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Cupos sin control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Las actividades se sobrecargan o quedan lugares sin usar.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Lo que construimos en el MVP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Un recorrido completo por cada rol, multi-tenant por ruta: /c/&lt;slug&gt;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59" y="1828800"/>
            <a:ext cx="548640" cy="54864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90195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Admin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Crea clubes (nombre + slug)</a:t>
            </a:r>
          </a:p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Asigna el admin de cada club por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617720" y="1828800"/>
            <a:ext cx="548640" cy="54864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0195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Admin de club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Tipos de socio y cuota mensual</a:t>
            </a:r>
          </a:p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Alta, edición y baja de socios</a:t>
            </a:r>
          </a:p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Registra pagos del mes</a:t>
            </a:r>
          </a:p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Actividades con cupo y resumen del 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5204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412480" y="1828800"/>
            <a:ext cx="548640" cy="54864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90195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Socio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Ve su estado de cuota e historial de pagos</a:t>
            </a:r>
          </a:p>
          <a:p>
            <a:pPr algn="l" marL="201168" indent="-201168">
              <a:spcAft>
                <a:spcPts val="5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Se inscribe o cancela respetando el cupo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7200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2A93B"/>
                </a:solidFill>
                <a:latin typeface="Arial"/>
              </a:rPr>
              <a:t>STACK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Next.js 15 · Prisma · PostgreSQL · NextAuth con Google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8009" y="457200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596609" y="47548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2A93B"/>
                </a:solidFill>
                <a:latin typeface="Arial"/>
              </a:rPr>
              <a:t>DATOS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clubId en cada tabla; “al día” = pago del mes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379" y="457200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15979" y="47548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2A93B"/>
                </a:solidFill>
                <a:latin typeface="Arial"/>
              </a:rPr>
              <a:t>RECORTES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Ruta en vez de subdominio; pagos cargados por el club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748" y="457200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35348" y="47548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2A93B"/>
                </a:solidFill>
                <a:latin typeface="Arial"/>
              </a:rPr>
              <a:t>CALIDAD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Vitest · CI en GitHub Actions · Docker y Codespaces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De la v1 a la v2 en nueve etapas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Cada etapa: spec → plan → implementación, y se cierra con tests, build y demo en verde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E3B2E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8346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etapas iteradas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1828800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E3B2E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346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módulos por dominio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1828800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E3B2E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346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migraciones Prisma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1828800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E3B2E"/>
                </a:solidFill>
                <a:latin typeface="Arial"/>
              </a:rPr>
              <a:t>349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8346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tests automatizados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29284" y="4206240"/>
            <a:ext cx="9875520" cy="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0068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Base</a:t>
            </a:r>
          </a:p>
        </p:txBody>
      </p:sp>
      <p:sp>
        <p:nvSpPr>
          <p:cNvPr id="19" name="Oval 18"/>
          <p:cNvSpPr/>
          <p:nvPr/>
        </p:nvSpPr>
        <p:spPr>
          <a:xfrm>
            <a:off x="213512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Cuenta corriente</a:t>
            </a:r>
          </a:p>
        </p:txBody>
      </p:sp>
      <p:sp>
        <p:nvSpPr>
          <p:cNvPr id="21" name="Oval 20"/>
          <p:cNvSpPr/>
          <p:nvPr/>
        </p:nvSpPr>
        <p:spPr>
          <a:xfrm>
            <a:off x="336956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Calendario</a:t>
            </a:r>
          </a:p>
        </p:txBody>
      </p:sp>
      <p:sp>
        <p:nvSpPr>
          <p:cNvPr id="23" name="Oval 22"/>
          <p:cNvSpPr/>
          <p:nvPr/>
        </p:nvSpPr>
        <p:spPr>
          <a:xfrm>
            <a:off x="460400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Agenda</a:t>
            </a:r>
          </a:p>
        </p:txBody>
      </p:sp>
      <p:sp>
        <p:nvSpPr>
          <p:cNvPr id="25" name="Oval 24"/>
          <p:cNvSpPr/>
          <p:nvPr/>
        </p:nvSpPr>
        <p:spPr>
          <a:xfrm>
            <a:off x="583844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Notificaciones</a:t>
            </a:r>
          </a:p>
        </p:txBody>
      </p:sp>
      <p:sp>
        <p:nvSpPr>
          <p:cNvPr id="27" name="Oval 26"/>
          <p:cNvSpPr/>
          <p:nvPr/>
        </p:nvSpPr>
        <p:spPr>
          <a:xfrm>
            <a:off x="7072883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Acceso</a:t>
            </a:r>
          </a:p>
        </p:txBody>
      </p:sp>
      <p:sp>
        <p:nvSpPr>
          <p:cNvPr id="29" name="Oval 28"/>
          <p:cNvSpPr/>
          <p:nvPr/>
        </p:nvSpPr>
        <p:spPr>
          <a:xfrm>
            <a:off x="830732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Socios</a:t>
            </a:r>
          </a:p>
        </p:txBody>
      </p:sp>
      <p:sp>
        <p:nvSpPr>
          <p:cNvPr id="31" name="Oval 30"/>
          <p:cNvSpPr/>
          <p:nvPr/>
        </p:nvSpPr>
        <p:spPr>
          <a:xfrm>
            <a:off x="954176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Reportes</a:t>
            </a:r>
          </a:p>
        </p:txBody>
      </p:sp>
      <p:sp>
        <p:nvSpPr>
          <p:cNvPr id="33" name="Oval 32"/>
          <p:cNvSpPr/>
          <p:nvPr/>
        </p:nvSpPr>
        <p:spPr>
          <a:xfrm>
            <a:off x="10776204" y="3977639"/>
            <a:ext cx="457200" cy="4572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4572000"/>
            <a:ext cx="1161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Subdominios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7A4F"/>
                </a:solidFill>
                <a:latin typeface="Calibri"/>
              </a:rPr>
              <a:t>Misma arquitectura de la v1 (Next.js + Prisma/Postgres + NextAuth, multi-tenant por clubId), ahora modular y con historial de migraciones.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Cuenta corriente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De “un pago por mes” a cargos y pagos por socio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Cargos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Cuota social mensual
Clase o evento con precio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2487168"/>
            <a:ext cx="182879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43400" y="169164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178308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Pago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Online (pasarela simulada)
o en ventanilla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09560" y="2487168"/>
            <a:ext cx="182880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38160" y="169164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178308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Cuenta del club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Acreditaciones derivadas
de los pagos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2959" y="393192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61772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Al día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Sin cargos vencidos impagos. El vencimiento es configurable por club (día 1 a 28).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5760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4617720" y="393192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61772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Grupo familiar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Un titular y sus familiares: solo el titular paga, y cada cargo se acredita en la cuenta de su socio.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65760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412480" y="393192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61772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Pasarela enchufable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Interfaz Pasarela: simulada con tarjetas de prueba; Mercado Pago queda como esqueleto.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Agenda única con reserva por clase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394960" cy="43434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9977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434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6891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348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3805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2262" y="1600200"/>
            <a:ext cx="7184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7A4F"/>
                </a:solidFill>
                <a:latin typeface="Calibri"/>
              </a:rPr>
              <a:t>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7744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Natación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5010" y="237744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Natación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86553" y="338328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E3B2E"/>
                </a:solidFill>
                <a:latin typeface="Calibri"/>
              </a:rPr>
              <a:t>Yoga
lleno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3467" y="338328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E3B2E"/>
                </a:solidFill>
                <a:latin typeface="Calibri"/>
              </a:rPr>
              <a:t>Yoga
lleno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41924" y="438912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Funcional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0381" y="2834640"/>
            <a:ext cx="645305" cy="1005840"/>
          </a:xfrm>
          <a:prstGeom prst="roundRect">
            <a:avLst>
              <a:gd name="adj" fmla="val 8000"/>
            </a:avLst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Clínica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05010" y="4389120"/>
            <a:ext cx="645305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000" b="1" i="0">
                <a:solidFill>
                  <a:srgbClr val="0E3B2E"/>
                </a:solidFill>
                <a:latin typeface="Calibri"/>
              </a:rPr>
              <a:t>Sin
clase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12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Vistas semana · mes · lista, sin librería de calendario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46304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417320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Actividades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Varios horarios semanales, inicio y fin. Las clases se calculan; solo se guardan suspensiones y reprogramaciones.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257860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532888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Eventos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Puntuales, con inscripción, cupo y precio opcionales.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3694176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648456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Reserva por clase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Cupo por clase; clases sueltas o un horario por N semanas. Si tiene precio, genera un cargo.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4809744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764024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Lista de espera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Al liberarse un lugar se avisa a toda la lista; nadie entra solo.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Notificaciones y acceso sin contraseñas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8640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Notificaciones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4028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notificar(evento de dominio)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27631" y="2834640"/>
            <a:ext cx="0" cy="22860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68680" y="3108960"/>
            <a:ext cx="1517904" cy="8686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E3B2E"/>
                </a:solidFill>
                <a:latin typeface="Arial"/>
              </a:rPr>
              <a:t>In-app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siempre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834640"/>
            <a:ext cx="0" cy="22860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32888" y="3108960"/>
            <a:ext cx="1517904" cy="8686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E3B2E"/>
                </a:solidFill>
                <a:latin typeface="Arial"/>
              </a:rPr>
              <a:t>Mail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Resend o simulado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56048" y="2834640"/>
            <a:ext cx="0" cy="22860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97096" y="3108960"/>
            <a:ext cx="1517904" cy="8686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E3B2E"/>
                </a:solidFill>
                <a:latin typeface="Arial"/>
              </a:rPr>
              <a:t>SMS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simulado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Pago acreditado, cargos generados, clase suspendida, lugar liberado y avisos manuales.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7A4F"/>
                </a:solidFill>
                <a:latin typeface="Calibri"/>
              </a:rPr>
              <a:t>Mail y SMS se activan por club. Se notifica después del commit: si falla, no rompe la operación.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03520" cy="434340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Acceso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0" y="228600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5856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Email en el home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Sin Google ni contraseñas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0" y="324612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21868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Link mágico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15 minutos, un solo uso, se guarda solo su hash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0" y="420624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178807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Invitaciones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Al crear un club o un socio con email (7 días)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1663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F2A93B"/>
                </a:solidFill>
                <a:latin typeface="Calibri"/>
              </a:rPr>
              <a:t>Usuarios demo marcados en la base entran directo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Socios en bloque, familias y reportes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Importar 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173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Grupo familiar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4173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Reportes y puntajes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31343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Vista previa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Cada fila válida o con su error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5661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5478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Confirmar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Todo o nada, con invitación opcional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Hasta 500 filas · coma o punto y coma · parser propio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0" y="228600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Titular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03520" y="2852928"/>
            <a:ext cx="804672" cy="393192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17720" y="3291840"/>
            <a:ext cx="13716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E3B2E"/>
                </a:solidFill>
                <a:latin typeface="Calibri"/>
              </a:rPr>
              <a:t>Familiar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08192" y="2852928"/>
            <a:ext cx="795528" cy="393192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3291840"/>
            <a:ext cx="13716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E3B2E"/>
                </a:solidFill>
                <a:latin typeface="Calibri"/>
              </a:rPr>
              <a:t>Familiar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69080"/>
            <a:ext cx="2971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Un nivel y mismo club.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El titular ve y paga los cargos de todo el grupo; “al día” sigue siendo por socio.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240280"/>
            <a:ext cx="30175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Socios activos y % al día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Emitido vs. cobrado por mes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Morosidad (top 10)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Ocupación por actividad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Puntaje de 0,5 a 5 estrellas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846320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Gráficos con Tremor Raw sobre Recharts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Un subdominio por club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El recorte de la v1 se resolvió cambiando solo el ruteo: el modelo de datos no se tocó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3246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LO QUE VE EL USUARIO</a:t>
            </a:r>
          </a:p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demo.clubdesocios.com.ar/socio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2441448"/>
            <a:ext cx="182879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43400" y="17830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46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2A93B"/>
                </a:solidFill>
                <a:latin typeface="Calibri"/>
              </a:rPr>
              <a:t>MIDDLEWARE</a:t>
            </a:r>
          </a:p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ourier New"/>
              </a:rPr>
              <a:t>TENANT_MODE=subdomain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09560" y="2441448"/>
            <a:ext cx="182880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38160" y="17830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75320" y="1874519"/>
            <a:ext cx="3246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RUTA INTERNA</a:t>
            </a:r>
          </a:p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/c/demo/socio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0040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5B6770"/>
                </a:solidFill>
                <a:latin typeface="Calibri"/>
              </a:rPr>
              <a:t>reescribe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4023360"/>
            <a:ext cx="2971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Detrás de un flag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Con TENANT_MODE=path todo sigue por /c/&lt;slug&gt;; los previews de Vercel también.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17720" y="4023360"/>
            <a:ext cx="2971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Sesión y login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Cookie para todos los subdominios; en la página de un club solo entran sus usuarios.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794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80" y="4023360"/>
            <a:ext cx="2971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Infraestructura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Comodín *.clubdesocios.com.ar en Vercel; NIC.ar delega a los DNS de Vercel.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Arquitectura modular y calidad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4206240" cy="43434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Courier New"/>
              </a:rPr>
              <a:t>src/modules/&lt;dominio&gt;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acceso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79" y="219456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actividades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4320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calendario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79" y="274320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clubs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91839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cuenta-corriente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3291839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cuotas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79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notificaciones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79" y="3840479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pagos-online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8912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reportes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79" y="438912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reservas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937760"/>
            <a:ext cx="173736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0E3B2E"/>
                </a:solidFill>
                <a:latin typeface="Courier New"/>
              </a:rPr>
              <a:t>socios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417320"/>
            <a:ext cx="3108960" cy="434340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303520" y="1645920"/>
            <a:ext cx="25603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F2A93B"/>
                </a:solidFill>
                <a:latin typeface="Arial"/>
              </a:rPr>
              <a:t>Interfaces enchufables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Pasarela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simulada · Mercado Pago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Canal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E7F3EC"/>
                </a:solidFill>
                <a:latin typeface="Calibri"/>
              </a:rPr>
              <a:t>in-app · mail · SMS</a:t>
            </a:r>
          </a:p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7F3EC"/>
                </a:solidFill>
                <a:latin typeface="Calibri"/>
              </a:rPr>
              <a:t>Lo simulado se reemplaza por un proveedor real sin cambiar el dominio.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1417320"/>
            <a:ext cx="3246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0" y="1645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Calidad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2194560"/>
            <a:ext cx="2697480" cy="4114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migrate deploy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30968" y="2615184"/>
            <a:ext cx="0" cy="137160"/>
          </a:xfrm>
          <a:prstGeom prst="line">
            <a:avLst/>
          </a:prstGeom>
          <a:ln w="1905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86800" y="2761488"/>
            <a:ext cx="2697480" cy="4114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seed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30968" y="3182112"/>
            <a:ext cx="0" cy="137160"/>
          </a:xfrm>
          <a:prstGeom prst="line">
            <a:avLst/>
          </a:prstGeom>
          <a:ln w="1905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86800" y="3328415"/>
            <a:ext cx="2697480" cy="4114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typecheck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30968" y="3749039"/>
            <a:ext cx="0" cy="137161"/>
          </a:xfrm>
          <a:prstGeom prst="line">
            <a:avLst/>
          </a:prstGeom>
          <a:ln w="1905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86800" y="3895344"/>
            <a:ext cx="2697480" cy="4114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tests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30968" y="4315968"/>
            <a:ext cx="0" cy="137160"/>
          </a:xfrm>
          <a:prstGeom prst="line">
            <a:avLst/>
          </a:prstGeom>
          <a:ln w="1905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86800" y="4462272"/>
            <a:ext cx="2697480" cy="41148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ourier New"/>
              </a:rPr>
              <a:t>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07492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CI en GitHub Actions · integración contra Postgres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Demo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Con los datos del seed, sin preparación manual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002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La socia entra a demo.clubdesocios.com.ar con el ingreso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286000"/>
            <a:ext cx="0" cy="32004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48640" y="265176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517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Reserva una clase de Natación; Yoga está lleno y queda en lista de espera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337560"/>
            <a:ext cx="0" cy="32004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8640" y="370332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70332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Se inscribe a la Cena anual y paga sus cargos con una tarjeta de prueba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4389120"/>
            <a:ext cx="0" cy="32004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8640" y="4754879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754879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El admin del club ve el pago, suspende una clase y abre los reportes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600200"/>
            <a:ext cx="4251960" cy="37947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26679" y="1828800"/>
            <a:ext cx="36576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Usuarios demo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E7A4F"/>
                </a:solidFill>
                <a:latin typeface="Calibri"/>
              </a:rPr>
              <a:t>Admin general</a:t>
            </a:r>
          </a:p>
          <a:p>
            <a:pPr algn="l">
              <a:spcAft>
                <a:spcPts val="2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crea clubes y envía avisos a sus admins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E7A4F"/>
                </a:solidFill>
                <a:latin typeface="Courier New"/>
              </a:rPr>
              <a:t>admin@demo.club</a:t>
            </a:r>
          </a:p>
          <a:p>
            <a:pPr algn="l">
              <a:spcAft>
                <a:spcPts val="2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admin del Club Atlético Demo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E7A4F"/>
                </a:solidFill>
                <a:latin typeface="Courier New"/>
              </a:rPr>
              <a:t>socio@demo.club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Lucía, titular de un grupo familiar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7F3EC"/>
                </a:solidFill>
                <a:latin typeface="Calibri"/>
              </a:rPr>
              <a:t>Lo simulado ya tiene su interfaz: falta conectar lo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59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Pagos reales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Conectar Mercado Pago a la interfaz Pasarela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3639312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Mails reales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Resend con el dominio verificado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55664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Carnet digital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QR del socio y registro de asistencia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72016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Automatizar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Cargos y vencimientos por cron, push del navegador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Courier New"/>
              </a:rPr>
              <a:t>github.com/ivollonoc/IISAIA-TF  ·  clubdesocios.com.ar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