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la v1 mostramos un MVP multi-tenant con lo mínimo por rol. Hoy presentamos la v2: qué agregamos, cómo lo construimos y una demo corta.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reescribimos: iteramos sobre la v1 en nueve etapas. Cada una tuvo su spec, su plan y su implementación, y se cerró con typecheck, tests y build en verde. La etapa 0 no cambió comportamiento: migraciones, tests de integración y modularización.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modelo de pagos de la v1 quedó chico. Ahora cada socio tiene una cuenta corriente con cargos y pagos; el club ve sus acreditaciones. Se pagan cargos completos, online con una pasarela simulada o en ventanilla. El titular de un grupo familiar paga por todos.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Unificamos actividades y calendario en una sola agenda. Las clases no se guardan: se calculan desde los horarios y solo persistimos las excepciones. Pasamos de inscripción mensual a reserva por clase, con cupo, lista de espera y precio por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servicios notifican por llamada directa, sin bus de eventos. In-app siempre; mail y SMS según lo que active cada club, simulados detrás de una interfaz Canal. Sacamos Google: se ingresa con link mágico o invitación por 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clubes reales hacía falta cargar el padrón de una vez: importación CSV con vista previa y confirmación todo o nada. Sumamos grupo familiar con un titular que paga, y reportes del club con KPIs, recaudación, morosidad, ocupación y puntaje de actividades.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la v1 dijimos que pasar a subdominios era solo cambiar el ruteo, y así fue: un middleware reescribe el subdominio a la ruta interna del club. Cada club tiene además su página pública.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Reorganizamos el código por dominio. Lo externo (pagos, mails, SMS) vive detrás de interfaces, así lo simulado se cambia por un proveedor real. Pasamos de db push a migraciones y sumamos tests de integración contra Postgres real, que corren en el CI en cada 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Recorrido de un minuto: la socia reserva, cae en lista de espera, se inscribe a un evento pago y paga online. Del lado del club, el pago se acredita, la suspensión de la clase notifica a quienes reservaron y los reportes reflejan 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pagos, mails y SMS ya están detrás de interfaces: el próximo paso es conectar proveedores reales. Quedan anotados el carnet digital con QR y la automatización de vencimientos. ¡Gracias!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589520" y="914400"/>
            <a:ext cx="5120640" cy="5120640"/>
          </a:xfrm>
          <a:prstGeom prst="ellipse">
            <a:avLst/>
          </a:prstGeom>
          <a:noFill/>
          <a:ln w="38100">
            <a:solidFill>
              <a:srgbClr val="2A5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012680" y="3337560"/>
            <a:ext cx="274320" cy="274320"/>
          </a:xfrm>
          <a:prstGeom prst="ellipse">
            <a:avLst/>
          </a:prstGeom>
          <a:solidFill>
            <a:srgbClr val="2A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2A93B"/>
                </a:solidFill>
                <a:latin typeface="Arial"/>
              </a:rPr>
              <a:t>TP FINAL · IISAIA · FIUBA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600" b="1" i="0">
                <a:solidFill>
                  <a:srgbClr val="FFFFFF"/>
                </a:solidFill>
                <a:latin typeface="Arial"/>
              </a:rPr>
              <a:t>Gestión de Socios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E7F3EC"/>
                </a:solidFill>
                <a:latin typeface="Calibri"/>
              </a:rPr>
              <a:t>Del MVP a una plataforma completa para clubes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2A93B"/>
                </a:solidFill>
                <a:latin typeface="Calibri"/>
              </a:rPr>
              <a:t>Propuesta v2 · clubdesocios.com.ar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2E"/>
                </a:solidFill>
                <a:latin typeface="Arial"/>
              </a:rPr>
              <a:t>De la v1 a la v2 en nueve etapas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770"/>
                </a:solidFill>
                <a:latin typeface="Calibri"/>
              </a:rPr>
              <a:t>Cada etapa: spec → plan → implementación, y se cierra con tests, build y demo en verde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59" y="1828800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0E3B2E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83464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770"/>
                </a:solidFill>
                <a:latin typeface="Calibri"/>
              </a:rPr>
              <a:t>etapas iteradas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2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39312" y="1828800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0E3B2E"/>
                </a:solidFill>
                <a:latin typeface="Arial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283464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770"/>
                </a:solidFill>
                <a:latin typeface="Calibri"/>
              </a:rPr>
              <a:t>módulos por dominio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55664" y="1828800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0E3B2E"/>
                </a:solidFill>
                <a:latin typeface="Arial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83464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770"/>
                </a:solidFill>
                <a:latin typeface="Calibri"/>
              </a:rPr>
              <a:t>migraciones Prisma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7696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72016" y="1828800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0E3B2E"/>
                </a:solidFill>
                <a:latin typeface="Arial"/>
              </a:rPr>
              <a:t>349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2016" y="283464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770"/>
                </a:solidFill>
                <a:latin typeface="Calibri"/>
              </a:rPr>
              <a:t>tests automatizados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29284" y="4206240"/>
            <a:ext cx="9875520" cy="0"/>
          </a:xfrm>
          <a:prstGeom prst="line">
            <a:avLst/>
          </a:prstGeom>
          <a:ln w="25400">
            <a:solidFill>
              <a:srgbClr val="D5E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00684" y="3977639"/>
            <a:ext cx="457200" cy="45720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2A93B"/>
                </a:solidFill>
                <a:latin typeface="Arial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161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3B2E"/>
                </a:solidFill>
                <a:latin typeface="Calibri"/>
              </a:rPr>
              <a:t>Base</a:t>
            </a:r>
          </a:p>
        </p:txBody>
      </p:sp>
      <p:sp>
        <p:nvSpPr>
          <p:cNvPr id="19" name="Oval 18"/>
          <p:cNvSpPr/>
          <p:nvPr/>
        </p:nvSpPr>
        <p:spPr>
          <a:xfrm>
            <a:off x="2135124" y="3977639"/>
            <a:ext cx="457200" cy="45720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2A93B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572000"/>
            <a:ext cx="1161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3B2E"/>
                </a:solidFill>
                <a:latin typeface="Calibri"/>
              </a:rPr>
              <a:t>Cuenta corriente</a:t>
            </a:r>
          </a:p>
        </p:txBody>
      </p:sp>
      <p:sp>
        <p:nvSpPr>
          <p:cNvPr id="21" name="Oval 20"/>
          <p:cNvSpPr/>
          <p:nvPr/>
        </p:nvSpPr>
        <p:spPr>
          <a:xfrm>
            <a:off x="3369564" y="3977639"/>
            <a:ext cx="457200" cy="45720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2A93B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572000"/>
            <a:ext cx="1161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3B2E"/>
                </a:solidFill>
                <a:latin typeface="Calibri"/>
              </a:rPr>
              <a:t>Calendario</a:t>
            </a:r>
          </a:p>
        </p:txBody>
      </p:sp>
      <p:sp>
        <p:nvSpPr>
          <p:cNvPr id="23" name="Oval 22"/>
          <p:cNvSpPr/>
          <p:nvPr/>
        </p:nvSpPr>
        <p:spPr>
          <a:xfrm>
            <a:off x="4604004" y="3977639"/>
            <a:ext cx="457200" cy="45720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2A93B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4572000"/>
            <a:ext cx="1161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3B2E"/>
                </a:solidFill>
                <a:latin typeface="Calibri"/>
              </a:rPr>
              <a:t>Agenda</a:t>
            </a:r>
          </a:p>
        </p:txBody>
      </p:sp>
      <p:sp>
        <p:nvSpPr>
          <p:cNvPr id="25" name="Oval 24"/>
          <p:cNvSpPr/>
          <p:nvPr/>
        </p:nvSpPr>
        <p:spPr>
          <a:xfrm>
            <a:off x="5838444" y="3977639"/>
            <a:ext cx="457200" cy="45720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2A93B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572000"/>
            <a:ext cx="1161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3B2E"/>
                </a:solidFill>
                <a:latin typeface="Calibri"/>
              </a:rPr>
              <a:t>Notificaciones</a:t>
            </a:r>
          </a:p>
        </p:txBody>
      </p:sp>
      <p:sp>
        <p:nvSpPr>
          <p:cNvPr id="27" name="Oval 26"/>
          <p:cNvSpPr/>
          <p:nvPr/>
        </p:nvSpPr>
        <p:spPr>
          <a:xfrm>
            <a:off x="7072883" y="3977639"/>
            <a:ext cx="457200" cy="45720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2A93B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572000"/>
            <a:ext cx="1161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3B2E"/>
                </a:solidFill>
                <a:latin typeface="Calibri"/>
              </a:rPr>
              <a:t>Acceso</a:t>
            </a:r>
          </a:p>
        </p:txBody>
      </p:sp>
      <p:sp>
        <p:nvSpPr>
          <p:cNvPr id="29" name="Oval 28"/>
          <p:cNvSpPr/>
          <p:nvPr/>
        </p:nvSpPr>
        <p:spPr>
          <a:xfrm>
            <a:off x="8307324" y="3977639"/>
            <a:ext cx="457200" cy="45720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2A93B"/>
                </a:solidFill>
                <a:latin typeface="Aria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4572000"/>
            <a:ext cx="1161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3B2E"/>
                </a:solidFill>
                <a:latin typeface="Calibri"/>
              </a:rPr>
              <a:t>Socios</a:t>
            </a:r>
          </a:p>
        </p:txBody>
      </p:sp>
      <p:sp>
        <p:nvSpPr>
          <p:cNvPr id="31" name="Oval 30"/>
          <p:cNvSpPr/>
          <p:nvPr/>
        </p:nvSpPr>
        <p:spPr>
          <a:xfrm>
            <a:off x="9541764" y="3977639"/>
            <a:ext cx="457200" cy="45720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2A93B"/>
                </a:solidFill>
                <a:latin typeface="Arial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4572000"/>
            <a:ext cx="1161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3B2E"/>
                </a:solidFill>
                <a:latin typeface="Calibri"/>
              </a:rPr>
              <a:t>Reportes</a:t>
            </a:r>
          </a:p>
        </p:txBody>
      </p:sp>
      <p:sp>
        <p:nvSpPr>
          <p:cNvPr id="33" name="Oval 32"/>
          <p:cNvSpPr/>
          <p:nvPr/>
        </p:nvSpPr>
        <p:spPr>
          <a:xfrm>
            <a:off x="10776204" y="3977639"/>
            <a:ext cx="457200" cy="45720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2A93B"/>
                </a:solidFill>
                <a:latin typeface="Arial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4572000"/>
            <a:ext cx="1161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3B2E"/>
                </a:solidFill>
                <a:latin typeface="Calibri"/>
              </a:rPr>
              <a:t>Subdominios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7A4F"/>
                </a:solidFill>
                <a:latin typeface="Calibri"/>
              </a:rPr>
              <a:t>Misma arquitectura de la v1 (Next.js + Prisma/Postgres + NextAuth, multi-tenant por clubId), ahora modular y con historial de migraciones.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2E"/>
                </a:solidFill>
                <a:latin typeface="Arial"/>
              </a:rPr>
              <a:t>Cuenta corriente y pagos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770"/>
                </a:solidFill>
                <a:latin typeface="Calibri"/>
              </a:rPr>
              <a:t>De “un pago por mes” a cargos y pagos por socio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59" y="1783080"/>
            <a:ext cx="297180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0E3B2E"/>
                </a:solidFill>
                <a:latin typeface="Arial"/>
              </a:rPr>
              <a:t>Cargos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B6770"/>
                </a:solidFill>
                <a:latin typeface="Calibri"/>
              </a:rPr>
              <a:t>Cuota social mensual
Clase o evento con precio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0" y="2487168"/>
            <a:ext cx="182879" cy="0"/>
          </a:xfrm>
          <a:prstGeom prst="line">
            <a:avLst/>
          </a:prstGeom>
          <a:ln w="25400">
            <a:solidFill>
              <a:srgbClr val="1E7A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343400" y="1691640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17720" y="1783080"/>
            <a:ext cx="297180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Pago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E7F3EC"/>
                </a:solidFill>
                <a:latin typeface="Calibri"/>
              </a:rPr>
              <a:t>Online (pasarela simulada)
o en ventanilla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09560" y="2487168"/>
            <a:ext cx="182880" cy="0"/>
          </a:xfrm>
          <a:prstGeom prst="line">
            <a:avLst/>
          </a:prstGeom>
          <a:ln w="25400">
            <a:solidFill>
              <a:srgbClr val="1E7A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38160" y="1691640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412480" y="1783080"/>
            <a:ext cx="297180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0E3B2E"/>
                </a:solidFill>
                <a:latin typeface="Arial"/>
              </a:rPr>
              <a:t>Cuenta del club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B6770"/>
                </a:solidFill>
                <a:latin typeface="Calibri"/>
              </a:rPr>
              <a:t>Acreditaciones derivadas
de los pagos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35204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22959" y="393192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617720"/>
            <a:ext cx="2971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Al día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Sin cargos vencidos impagos. El vencimiento es configurable por club (día 1 a 28).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657600"/>
            <a:ext cx="35204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617720" y="393192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617720"/>
            <a:ext cx="2971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Grupo familiar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Un titular y sus familiares: solo el titular paga, y cada cargo se acredita en la cuenta de su socio.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657600"/>
            <a:ext cx="35204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412480" y="393192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617720"/>
            <a:ext cx="2971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Pasarela enchufable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Interfaz Pasarela: simulada con tarjetas de prueba; Mercado Pago queda como esqueleto.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2E"/>
                </a:solidFill>
                <a:latin typeface="Arial"/>
              </a:rPr>
              <a:t>Agenda única con reserva por clase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5394960" cy="434340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184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E7A4F"/>
                </a:solidFill>
                <a:latin typeface="Calibri"/>
              </a:rPr>
              <a:t>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9977" y="1600200"/>
            <a:ext cx="7184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E7A4F"/>
                </a:solidFill>
                <a:latin typeface="Calibri"/>
              </a:rPr>
              <a:t>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8434" y="1600200"/>
            <a:ext cx="7184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E7A4F"/>
                </a:solidFill>
                <a:latin typeface="Calibri"/>
              </a:rPr>
              <a:t>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6891" y="1600200"/>
            <a:ext cx="7184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E7A4F"/>
                </a:solidFill>
                <a:latin typeface="Calibri"/>
              </a:rPr>
              <a:t>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5348" y="1600200"/>
            <a:ext cx="7184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E7A4F"/>
                </a:solidFill>
                <a:latin typeface="Calibri"/>
              </a:rP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3805" y="1600200"/>
            <a:ext cx="7184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E7A4F"/>
                </a:solidFill>
                <a:latin typeface="Calibri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2262" y="1600200"/>
            <a:ext cx="7184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E7A4F"/>
                </a:solidFill>
                <a:latin typeface="Calibri"/>
              </a:rPr>
              <a:t>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2377440"/>
            <a:ext cx="645305" cy="731520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Natación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5010" y="2377440"/>
            <a:ext cx="645305" cy="731520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Natación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86553" y="3383280"/>
            <a:ext cx="645305" cy="731520"/>
          </a:xfrm>
          <a:prstGeom prst="roundRect">
            <a:avLst>
              <a:gd name="adj" fmla="val 8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0E3B2E"/>
                </a:solidFill>
                <a:latin typeface="Calibri"/>
              </a:rPr>
              <a:t>Yoga
lleno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3467" y="3383280"/>
            <a:ext cx="645305" cy="731520"/>
          </a:xfrm>
          <a:prstGeom prst="roundRect">
            <a:avLst>
              <a:gd name="adj" fmla="val 8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0E3B2E"/>
                </a:solidFill>
                <a:latin typeface="Calibri"/>
              </a:rPr>
              <a:t>Yoga
lleno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41924" y="4389120"/>
            <a:ext cx="645305" cy="731520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Funcional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0381" y="2834640"/>
            <a:ext cx="645305" cy="1005840"/>
          </a:xfrm>
          <a:prstGeom prst="roundRect">
            <a:avLst>
              <a:gd name="adj" fmla="val 8000"/>
            </a:avLst>
          </a:prstGeom>
          <a:solidFill>
            <a:srgbClr val="1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Clínica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05010" y="4389120"/>
            <a:ext cx="645305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0E3B2E"/>
                </a:solidFill>
                <a:latin typeface="Calibri"/>
              </a:rPr>
              <a:t>Sin
clase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12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Vistas semana · mes · lista, sin librería de calendario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146304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1417320"/>
            <a:ext cx="45720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Actividades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Varios horarios semanales, inicio y fin. Las clases se calculan; solo se guardan suspensiones y reprogramaciones.</a:t>
            </a:r>
          </a:p>
        </p:txBody>
      </p:sp>
      <p:sp>
        <p:nvSpPr>
          <p:cNvPr id="21" name="Oval 20"/>
          <p:cNvSpPr/>
          <p:nvPr/>
        </p:nvSpPr>
        <p:spPr>
          <a:xfrm>
            <a:off x="6355080" y="2578608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532888"/>
            <a:ext cx="45720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Eventos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Puntuales, con inscripción, cupo y precio opcionales.</a:t>
            </a:r>
          </a:p>
        </p:txBody>
      </p:sp>
      <p:sp>
        <p:nvSpPr>
          <p:cNvPr id="23" name="Oval 22"/>
          <p:cNvSpPr/>
          <p:nvPr/>
        </p:nvSpPr>
        <p:spPr>
          <a:xfrm>
            <a:off x="6355080" y="3694176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648456"/>
            <a:ext cx="45720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Reserva por clase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Cupo por clase; clases sueltas o un horario por N semanas. Si tiene precio, genera un cargo.</a:t>
            </a:r>
          </a:p>
        </p:txBody>
      </p:sp>
      <p:sp>
        <p:nvSpPr>
          <p:cNvPr id="25" name="Oval 24"/>
          <p:cNvSpPr/>
          <p:nvPr/>
        </p:nvSpPr>
        <p:spPr>
          <a:xfrm>
            <a:off x="6355080" y="4809744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764024"/>
            <a:ext cx="45720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Lista de espera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Al liberarse un lugar se avisa a toda la lista; nadie entra solo.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2E"/>
                </a:solidFill>
                <a:latin typeface="Arial"/>
              </a:rPr>
              <a:t>Notificaciones y acceso sin contraseñas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548640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E3B2E"/>
                </a:solidFill>
                <a:latin typeface="Arial"/>
              </a:rPr>
              <a:t>Notificaciones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240280"/>
            <a:ext cx="4846320" cy="548640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notificar(evento de dominio)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27631" y="2834640"/>
            <a:ext cx="0" cy="228600"/>
          </a:xfrm>
          <a:prstGeom prst="line">
            <a:avLst/>
          </a:prstGeom>
          <a:ln w="25400">
            <a:solidFill>
              <a:srgbClr val="1E7A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68680" y="3108960"/>
            <a:ext cx="1517904" cy="86868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E3B2E"/>
                </a:solidFill>
                <a:latin typeface="Arial"/>
              </a:rPr>
              <a:t>In-app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siempre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91840" y="2834640"/>
            <a:ext cx="0" cy="228600"/>
          </a:xfrm>
          <a:prstGeom prst="line">
            <a:avLst/>
          </a:prstGeom>
          <a:ln w="25400">
            <a:solidFill>
              <a:srgbClr val="1E7A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32888" y="3108960"/>
            <a:ext cx="1517904" cy="86868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E3B2E"/>
                </a:solidFill>
                <a:latin typeface="Arial"/>
              </a:rPr>
              <a:t>Mail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Resend o simulado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56048" y="2834640"/>
            <a:ext cx="0" cy="228600"/>
          </a:xfrm>
          <a:prstGeom prst="line">
            <a:avLst/>
          </a:prstGeom>
          <a:ln w="25400">
            <a:solidFill>
              <a:srgbClr val="1E7A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97096" y="3108960"/>
            <a:ext cx="1517904" cy="86868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E3B2E"/>
                </a:solidFill>
                <a:latin typeface="Arial"/>
              </a:rPr>
              <a:t>SMS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770"/>
                </a:solidFill>
                <a:latin typeface="Calibri"/>
              </a:rPr>
              <a:t>simulado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0624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Pago acreditado, cargos generados, clase suspendida, lugar liberado y avisos manuales.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7A4F"/>
                </a:solidFill>
                <a:latin typeface="Calibri"/>
              </a:rPr>
              <a:t>Mail y SMS se activan por club. Se notifica después del commit: si falla, no rompe la operación.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03520" cy="4343400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675120" y="164592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Acceso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0" y="228600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258568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Email en el home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7F3EC"/>
                </a:solidFill>
                <a:latin typeface="Calibri"/>
              </a:rPr>
              <a:t>Sin Google ni contraseñas</a:t>
            </a:r>
          </a:p>
        </p:txBody>
      </p:sp>
      <p:sp>
        <p:nvSpPr>
          <p:cNvPr id="17" name="Oval 16"/>
          <p:cNvSpPr/>
          <p:nvPr/>
        </p:nvSpPr>
        <p:spPr>
          <a:xfrm>
            <a:off x="6675120" y="324612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218688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Link mágico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7F3EC"/>
                </a:solidFill>
                <a:latin typeface="Calibri"/>
              </a:rPr>
              <a:t>15 minutos, un solo uso, se guarda solo su hash</a:t>
            </a:r>
          </a:p>
        </p:txBody>
      </p:sp>
      <p:sp>
        <p:nvSpPr>
          <p:cNvPr id="19" name="Oval 18"/>
          <p:cNvSpPr/>
          <p:nvPr/>
        </p:nvSpPr>
        <p:spPr>
          <a:xfrm>
            <a:off x="6675120" y="420624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178807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Invitaciones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7F3EC"/>
                </a:solidFill>
                <a:latin typeface="Calibri"/>
              </a:rPr>
              <a:t>Al crear un club o un socio con email (7 días)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1663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F2A93B"/>
                </a:solidFill>
                <a:latin typeface="Calibri"/>
              </a:rPr>
              <a:t>Usuarios demo marcados en la base entran directo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2E"/>
                </a:solidFill>
                <a:latin typeface="Arial"/>
              </a:rPr>
              <a:t>Socios en bloque, familias y reportes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164592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E3B2E"/>
                </a:solidFill>
                <a:latin typeface="Arial"/>
              </a:rPr>
              <a:t>Importar CSV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17320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617720" y="164592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E3B2E"/>
                </a:solidFill>
                <a:latin typeface="Arial"/>
              </a:rPr>
              <a:t>Grupo familiar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417320"/>
            <a:ext cx="3520440" cy="434340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80" y="164592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E3B2E"/>
                </a:solidFill>
                <a:latin typeface="Arial"/>
              </a:rPr>
              <a:t>Reportes y puntajes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313432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E3B2E"/>
                </a:solidFill>
                <a:latin typeface="Arial"/>
              </a:rPr>
              <a:t>Vista previa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Cada fila válida o con su error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56616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547872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E3B2E"/>
                </a:solidFill>
                <a:latin typeface="Arial"/>
              </a:rPr>
              <a:t>Confirmar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Todo o nada, con invitación opcional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Hasta 500 filas · coma o punto y coma · parser propio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2286000"/>
            <a:ext cx="1874519" cy="548640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Titular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5303520" y="2852928"/>
            <a:ext cx="804672" cy="393192"/>
          </a:xfrm>
          <a:prstGeom prst="line">
            <a:avLst/>
          </a:prstGeom>
          <a:ln w="1905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617720" y="3291840"/>
            <a:ext cx="13716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0E3B2E"/>
                </a:solidFill>
                <a:latin typeface="Calibri"/>
              </a:rPr>
              <a:t>Familiar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08192" y="2852928"/>
            <a:ext cx="795528" cy="393192"/>
          </a:xfrm>
          <a:prstGeom prst="line">
            <a:avLst/>
          </a:prstGeom>
          <a:ln w="19050">
            <a:solidFill>
              <a:srgbClr val="5B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17920" y="3291840"/>
            <a:ext cx="13716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0E3B2E"/>
                </a:solidFill>
                <a:latin typeface="Calibri"/>
              </a:rPr>
              <a:t>Familiar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69080"/>
            <a:ext cx="2971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Un nivel y mismo club.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El titular ve y paga los cargos de todo el grupo; “al día” sigue siendo por socio.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240280"/>
            <a:ext cx="301752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Socios activos y % al día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Emitido vs. cobrado por mes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Morosidad (top 10)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Ocupación por actividad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Puntaje de 0,5 a 5 estrellas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846320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Gráficos con Tremor Raw sobre Recharts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2E"/>
                </a:solidFill>
                <a:latin typeface="Arial"/>
              </a:rPr>
              <a:t>Un subdominio por club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770"/>
                </a:solidFill>
                <a:latin typeface="Calibri"/>
              </a:rPr>
              <a:t>El recorte de la v1 se resolvió cambiando solo el ruteo: el modelo de datos no se tocó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324612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1E7A4F"/>
                </a:solidFill>
                <a:latin typeface="Calibri"/>
              </a:rPr>
              <a:t>LO QUE VE EL USUARIO</a:t>
            </a:r>
          </a:p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3B2E"/>
                </a:solidFill>
                <a:latin typeface="Courier New"/>
              </a:rPr>
              <a:t>demo.clubdesocios.com.ar/socio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0" y="2441448"/>
            <a:ext cx="182879" cy="0"/>
          </a:xfrm>
          <a:prstGeom prst="line">
            <a:avLst/>
          </a:prstGeom>
          <a:ln w="25400">
            <a:solidFill>
              <a:srgbClr val="1E7A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343400" y="17830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480560" y="1874519"/>
            <a:ext cx="324612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2A93B"/>
                </a:solidFill>
                <a:latin typeface="Calibri"/>
              </a:rPr>
              <a:t>MIDDLEWARE</a:t>
            </a:r>
          </a:p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ourier New"/>
              </a:rPr>
              <a:t>TENANT_MODE=subdomain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09560" y="2441448"/>
            <a:ext cx="182880" cy="0"/>
          </a:xfrm>
          <a:prstGeom prst="line">
            <a:avLst/>
          </a:prstGeom>
          <a:ln w="25400">
            <a:solidFill>
              <a:srgbClr val="1E7A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38160" y="17830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75320" y="1874519"/>
            <a:ext cx="324612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1E7A4F"/>
                </a:solidFill>
                <a:latin typeface="Calibri"/>
              </a:rPr>
              <a:t>RUTA INTERNA</a:t>
            </a:r>
          </a:p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3B2E"/>
                </a:solidFill>
                <a:latin typeface="Courier New"/>
              </a:rPr>
              <a:t>/c/demo/socio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200400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5B6770"/>
                </a:solidFill>
                <a:latin typeface="Calibri"/>
              </a:rPr>
              <a:t>reescribe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9476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59" y="4023360"/>
            <a:ext cx="2971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Detrás de un flag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Con TENANT_MODE=path todo sigue por /c/&lt;slug&gt;; los previews de Vercel también.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79476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17720" y="4023360"/>
            <a:ext cx="2971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Sesión y login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Cookie para todos los subdominios; en la página de un club solo entran sus usuarios.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79476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80" y="4023360"/>
            <a:ext cx="2971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Infraestructura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Comodín *.clubdesocios.com.ar en Vercel; NIC.ar delega a los DNS de Vercel.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2E"/>
                </a:solidFill>
                <a:latin typeface="Arial"/>
              </a:rPr>
              <a:t>Arquitectura modular y calidad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4206240" cy="434340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3B2E"/>
                </a:solidFill>
                <a:latin typeface="Courier New"/>
              </a:rPr>
              <a:t>src/modules/&lt;dominio&gt;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17373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0E3B2E"/>
                </a:solidFill>
                <a:latin typeface="Courier New"/>
              </a:rPr>
              <a:t>acceso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79" y="2194560"/>
            <a:ext cx="17373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0E3B2E"/>
                </a:solidFill>
                <a:latin typeface="Courier New"/>
              </a:rPr>
              <a:t>actividades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17373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0E3B2E"/>
                </a:solidFill>
                <a:latin typeface="Courier New"/>
              </a:rPr>
              <a:t>calendario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79" y="2743200"/>
            <a:ext cx="17373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0E3B2E"/>
                </a:solidFill>
                <a:latin typeface="Courier New"/>
              </a:rPr>
              <a:t>clubs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91839"/>
            <a:ext cx="17373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0E3B2E"/>
                </a:solidFill>
                <a:latin typeface="Courier New"/>
              </a:rPr>
              <a:t>cuenta-corriente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79" y="3291839"/>
            <a:ext cx="17373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0E3B2E"/>
                </a:solidFill>
                <a:latin typeface="Courier New"/>
              </a:rPr>
              <a:t>cuotas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40479"/>
            <a:ext cx="17373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0E3B2E"/>
                </a:solidFill>
                <a:latin typeface="Courier New"/>
              </a:rPr>
              <a:t>notificaciones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79" y="3840479"/>
            <a:ext cx="17373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0E3B2E"/>
                </a:solidFill>
                <a:latin typeface="Courier New"/>
              </a:rPr>
              <a:t>pagos-online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389120"/>
            <a:ext cx="17373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0E3B2E"/>
                </a:solidFill>
                <a:latin typeface="Courier New"/>
              </a:rPr>
              <a:t>reportes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79" y="4389120"/>
            <a:ext cx="17373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0E3B2E"/>
                </a:solidFill>
                <a:latin typeface="Courier New"/>
              </a:rPr>
              <a:t>reservas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937760"/>
            <a:ext cx="173736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0E3B2E"/>
                </a:solidFill>
                <a:latin typeface="Courier New"/>
              </a:rPr>
              <a:t>socios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417320"/>
            <a:ext cx="3108960" cy="4343400"/>
          </a:xfrm>
          <a:prstGeom prst="roundRect">
            <a:avLst>
              <a:gd name="adj" fmla="val 8000"/>
            </a:avLst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303520" y="1645920"/>
            <a:ext cx="256032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F2A93B"/>
                </a:solidFill>
                <a:latin typeface="Arial"/>
              </a:rPr>
              <a:t>Interfaces enchufables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Pasarela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E7F3EC"/>
                </a:solidFill>
                <a:latin typeface="Calibri"/>
              </a:rPr>
              <a:t>simulada · Mercado Pago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Canal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E7F3EC"/>
                </a:solidFill>
                <a:latin typeface="Calibri"/>
              </a:rPr>
              <a:t>in-app · mail · SMS</a:t>
            </a:r>
          </a:p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E7F3EC"/>
                </a:solidFill>
                <a:latin typeface="Calibri"/>
              </a:rPr>
              <a:t>Lo simulado se reemplaza por un proveedor real sin cambiar el dominio.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1417320"/>
            <a:ext cx="324612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5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86800" y="1645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Calidad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194560"/>
            <a:ext cx="2697480" cy="41148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3B2E"/>
                </a:solidFill>
                <a:latin typeface="Courier New"/>
              </a:rPr>
              <a:t>migrate deploy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030968" y="2615184"/>
            <a:ext cx="0" cy="137160"/>
          </a:xfrm>
          <a:prstGeom prst="line">
            <a:avLst/>
          </a:prstGeom>
          <a:ln w="19050">
            <a:solidFill>
              <a:srgbClr val="1E7A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686800" y="2761488"/>
            <a:ext cx="2697480" cy="41148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3B2E"/>
                </a:solidFill>
                <a:latin typeface="Courier New"/>
              </a:rPr>
              <a:t>seed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30968" y="3182112"/>
            <a:ext cx="0" cy="137160"/>
          </a:xfrm>
          <a:prstGeom prst="line">
            <a:avLst/>
          </a:prstGeom>
          <a:ln w="19050">
            <a:solidFill>
              <a:srgbClr val="1E7A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686800" y="3328415"/>
            <a:ext cx="2697480" cy="41148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3B2E"/>
                </a:solidFill>
                <a:latin typeface="Courier New"/>
              </a:rPr>
              <a:t>typecheck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30968" y="3749039"/>
            <a:ext cx="0" cy="137161"/>
          </a:xfrm>
          <a:prstGeom prst="line">
            <a:avLst/>
          </a:prstGeom>
          <a:ln w="19050">
            <a:solidFill>
              <a:srgbClr val="1E7A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686800" y="3895344"/>
            <a:ext cx="2697480" cy="41148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3B2E"/>
                </a:solidFill>
                <a:latin typeface="Courier New"/>
              </a:rPr>
              <a:t>tests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030968" y="4315968"/>
            <a:ext cx="0" cy="137160"/>
          </a:xfrm>
          <a:prstGeom prst="line">
            <a:avLst/>
          </a:prstGeom>
          <a:ln w="19050">
            <a:solidFill>
              <a:srgbClr val="1E7A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686800" y="4462272"/>
            <a:ext cx="2697480" cy="41148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E3B2E"/>
                </a:solidFill>
                <a:latin typeface="Courier New"/>
              </a:rPr>
              <a:t>build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507492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770"/>
                </a:solidFill>
                <a:latin typeface="Calibri"/>
              </a:rPr>
              <a:t>CI en GitHub Actions · integración contra Postgres real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2E"/>
                </a:solidFill>
                <a:latin typeface="Arial"/>
              </a:rPr>
              <a:t>Demo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770"/>
                </a:solidFill>
                <a:latin typeface="Calibri"/>
              </a:rPr>
              <a:t>Con los datos del seed, sin preparación manual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2A93B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00200"/>
            <a:ext cx="5577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F2933"/>
                </a:solidFill>
                <a:latin typeface="Calibri"/>
              </a:rPr>
              <a:t>La socia entra a demo.clubdesocios.com.ar con el ingreso demo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2286000"/>
            <a:ext cx="0" cy="320040"/>
          </a:xfrm>
          <a:prstGeom prst="line">
            <a:avLst/>
          </a:prstGeom>
          <a:ln w="25400">
            <a:solidFill>
              <a:srgbClr val="D5E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48640" y="2651760"/>
            <a:ext cx="640080" cy="64008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2A93B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651760"/>
            <a:ext cx="5577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F2933"/>
                </a:solidFill>
                <a:latin typeface="Calibri"/>
              </a:rPr>
              <a:t>Reserva una clase de Natación; Yoga está lleno y queda en lista de espera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3337560"/>
            <a:ext cx="0" cy="320040"/>
          </a:xfrm>
          <a:prstGeom prst="line">
            <a:avLst/>
          </a:prstGeom>
          <a:ln w="25400">
            <a:solidFill>
              <a:srgbClr val="D5E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48640" y="3703320"/>
            <a:ext cx="640080" cy="64008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2A93B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703320"/>
            <a:ext cx="5577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F2933"/>
                </a:solidFill>
                <a:latin typeface="Calibri"/>
              </a:rPr>
              <a:t>Se inscribe a la Cena anual y paga sus cargos con una tarjeta de prueba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" y="4389120"/>
            <a:ext cx="0" cy="320040"/>
          </a:xfrm>
          <a:prstGeom prst="line">
            <a:avLst/>
          </a:prstGeom>
          <a:ln w="25400">
            <a:solidFill>
              <a:srgbClr val="D5E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48640" y="4754879"/>
            <a:ext cx="640080" cy="640080"/>
          </a:xfrm>
          <a:prstGeom prst="ellipse">
            <a:avLst/>
          </a:prstGeom>
          <a:solidFill>
            <a:srgbClr val="0E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2A93B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754879"/>
            <a:ext cx="5577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F2933"/>
                </a:solidFill>
                <a:latin typeface="Calibri"/>
              </a:rPr>
              <a:t>El admin del club ve el pago, suspende una clase y abre los reportes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600200"/>
            <a:ext cx="4251960" cy="379476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26679" y="1828800"/>
            <a:ext cx="36576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2000" b="1" i="0">
                <a:solidFill>
                  <a:srgbClr val="0E3B2E"/>
                </a:solidFill>
                <a:latin typeface="Arial"/>
              </a:rPr>
              <a:t>Usuarios demo</a:t>
            </a:r>
          </a:p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7A4F"/>
                </a:solidFill>
                <a:latin typeface="Calibri"/>
              </a:rPr>
              <a:t>Admin general</a:t>
            </a:r>
          </a:p>
          <a:p>
            <a:pPr algn="l">
              <a:spcAft>
                <a:spcPts val="22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crea clubes y envía avisos a sus admins</a:t>
            </a:r>
          </a:p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7A4F"/>
                </a:solidFill>
                <a:latin typeface="Courier New"/>
              </a:rPr>
              <a:t>admin@demo.club</a:t>
            </a:r>
          </a:p>
          <a:p>
            <a:pPr algn="l">
              <a:spcAft>
                <a:spcPts val="22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admin del Club Atlético Demo</a:t>
            </a:r>
          </a:p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E7A4F"/>
                </a:solidFill>
                <a:latin typeface="Courier New"/>
              </a:rPr>
              <a:t>socio@demo.club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Lucía, titular de un grupo familiar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E7F3EC"/>
                </a:solidFill>
                <a:latin typeface="Calibri"/>
              </a:rPr>
              <a:t>Lo simulado ya tiene su interfaz: falta conectar lo real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2606040" cy="2560320"/>
          </a:xfrm>
          <a:prstGeom prst="roundRect">
            <a:avLst>
              <a:gd name="adj" fmla="val 8000"/>
            </a:avLst>
          </a:prstGeom>
          <a:solidFill>
            <a:srgbClr val="2A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22959" y="219456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1031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Pagos reales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7F3EC"/>
                </a:solidFill>
                <a:latin typeface="Calibri"/>
              </a:rPr>
              <a:t>Conectar Mercado Pago a la interfaz Pasarela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2" y="1920240"/>
            <a:ext cx="2606040" cy="2560320"/>
          </a:xfrm>
          <a:prstGeom prst="roundRect">
            <a:avLst>
              <a:gd name="adj" fmla="val 8000"/>
            </a:avLst>
          </a:prstGeom>
          <a:solidFill>
            <a:srgbClr val="2A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3639312" y="219456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2971800"/>
            <a:ext cx="21031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Mails reales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7F3EC"/>
                </a:solidFill>
                <a:latin typeface="Calibri"/>
              </a:rPr>
              <a:t>Resend con el dominio verificado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920240"/>
            <a:ext cx="2606040" cy="2560320"/>
          </a:xfrm>
          <a:prstGeom prst="roundRect">
            <a:avLst>
              <a:gd name="adj" fmla="val 8000"/>
            </a:avLst>
          </a:prstGeom>
          <a:solidFill>
            <a:srgbClr val="2A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55664" y="219456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971800"/>
            <a:ext cx="21031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Carnet digital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7F3EC"/>
                </a:solidFill>
                <a:latin typeface="Calibri"/>
              </a:rPr>
              <a:t>QR del socio y registro de asistencia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7696" y="1920240"/>
            <a:ext cx="2606040" cy="2560320"/>
          </a:xfrm>
          <a:prstGeom prst="roundRect">
            <a:avLst>
              <a:gd name="adj" fmla="val 8000"/>
            </a:avLst>
          </a:prstGeom>
          <a:solidFill>
            <a:srgbClr val="2A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9272016" y="219456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E3B2E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2016" y="2971800"/>
            <a:ext cx="21031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Automatizar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7F3EC"/>
                </a:solidFill>
                <a:latin typeface="Calibri"/>
              </a:rPr>
              <a:t>Cargos y vencimientos por cron, push del navegador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2A93B"/>
                </a:solidFill>
                <a:latin typeface="Courier New"/>
              </a:rPr>
              <a:t>github.com/ivollonoc/IISAIA-TF  ·  clubdesocios.com.ar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