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Presentamos Gestión de Socios en cuatro puntos: qué problema resuelve, para quién es, cuál es el mínimo sin el que no sirve y con qué lo construimos. (~20 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Hoy un club chico tiene el padrón en una planilla, los pagos en el homebanking y las inscripciones en grupos de WhatsApp. Eso trae tres dolores: la información está dispersa, nadie sabe rápido quién está al día con la cuota, y los cupos de las actividades se controlan a mano. (~1 min)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aplicación tiene tres tipos de usuario. El admin general opera la plataforma y da de alta clubes. El admin de club es la secretaría o tesorería: es el usuario principal y el que hoy sufre las planillas. Y el socio, que quiere ver si está al día e inscribirse solo. Es multi-tenant: cada club ve únicamente sus datos. (~1 min)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 MVP no es todo lo que nos gustaría: es el mínimo para que cada rol complete su recorrido. El admin general crea el club y asigna su admin; el admin del club carga socios, define la cuota, registra pagos y arma actividades con cupo; el socio ve si está al día y se inscribe. A la derecha queda lo que dejamos afuera a propósito: suma valor, pero sin eso la app igual sirve. (~1 min 30 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 la v1 llegamos a un MVP de punta a punta: cada rol tenía su recorrido mínimo funcionando. Hicimos dos recortes conscientes, multi-tenant por ruta y cobros registrados a mano por el club, y dejamos el diseño preparado para crecer. Eso es lo que la v2 retoma.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 reescribimos: iteramos sobre la v1 en nueve etapas. Cada una tuvo su spec, su plan y su implementación, y se cerró con typecheck, tests y build en verde. La etapa 0 no cambió comportamiento: migraciones, tests de integración y modularización.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 modelo de pagos de la v1 quedó chico. Ahora cada socio tiene una cuenta corriente con cargos y pagos; el club ve sus acreditaciones. Se pagan cargos completos, online con una pasarela simulada o en ventanilla. El titular de un grupo familiar paga por todos.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Unificamos actividades y calendario en una sola agenda. Las clases no se guardan: se calculan desde los horarios y solo persistimos las excepciones. Pasamos de inscripción mensual a reserva por clase, con cupo, lista de espera y precio por clase.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 resto de la v2 en una pasada: notificaciones in-app, por mail y SMS; ingreso sin contraseñas con link mágico; carga de socios por CSV y grupos familiares; reportes del club; un subdominio por club, que en la v1 habíamos dejado como recorte; y todo organizado en módulos, con lo externo detrás de interfaces para conectar proveedores reales.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interfaz está hecha con Next.js y React, estilada con Tailwind. El servidor es el mismo Next.js: server actions y route handlers, con NextAuth para el ingreso y Zod para validar. Los datos están en PostgreSQL con Prisma; cada tabla lleva clubId, así un solo deploy atiende a todos los clubes. Elegimos un único lenguaje para no mantener dos proyectos separados. (~1 min)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Cerramos con los cuatro puntos: el problema, los tres usuarios, el MVP y el stack. La app está publicada en clubdesocios.com.ar. ¡Gracias! (~30 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3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589520" y="914400"/>
            <a:ext cx="5120640" cy="5120640"/>
          </a:xfrm>
          <a:prstGeom prst="ellipse">
            <a:avLst/>
          </a:prstGeom>
          <a:noFill/>
          <a:ln w="38100">
            <a:solidFill>
              <a:srgbClr val="2A5E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10012680" y="3337560"/>
            <a:ext cx="274320" cy="274320"/>
          </a:xfrm>
          <a:prstGeom prst="ellipse">
            <a:avLst/>
          </a:prstGeom>
          <a:solidFill>
            <a:srgbClr val="2A5E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F2A93B"/>
                </a:solidFill>
                <a:latin typeface="Arial"/>
              </a:rPr>
              <a:t>TP FINAL · IISAIA · FIUBA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8229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5600" b="1" i="0">
                <a:solidFill>
                  <a:srgbClr val="FFFFFF"/>
                </a:solidFill>
                <a:latin typeface="Arial"/>
              </a:rPr>
              <a:t>Gestión de Socios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91840"/>
            <a:ext cx="7772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0" i="0">
                <a:solidFill>
                  <a:srgbClr val="E7F3EC"/>
                </a:solidFill>
                <a:latin typeface="Calibri"/>
              </a:rPr>
              <a:t>Socios, cuotas y actividades en un solo lugar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20624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F2A93B"/>
                </a:solidFill>
                <a:latin typeface="Calibri"/>
              </a:rPr>
              <a:t>Problema · Usuarios · MVP · Stack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0E3B2E"/>
                </a:solidFill>
                <a:latin typeface="Arial"/>
              </a:rPr>
              <a:t>El problema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818120" y="502920"/>
            <a:ext cx="914400" cy="329184"/>
          </a:xfrm>
          <a:prstGeom prst="roundRect">
            <a:avLst>
              <a:gd name="adj" fmla="val 8000"/>
            </a:avLst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600"/>
              </a:spcAft>
            </a:pPr>
            <a:r>
              <a:rPr sz="1100" b="1" i="0">
                <a:solidFill>
                  <a:srgbClr val="0E3B2E"/>
                </a:solidFill>
                <a:latin typeface="Calibri"/>
              </a:rPr>
              <a:t>Problema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796528" y="502920"/>
            <a:ext cx="914400" cy="329184"/>
          </a:xfrm>
          <a:prstGeom prst="roundRect">
            <a:avLst>
              <a:gd name="adj" fmla="val 8000"/>
            </a:avLst>
          </a:prstGeom>
          <a:noFill/>
          <a:ln w="15875">
            <a:solidFill>
              <a:srgbClr val="D5E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600"/>
              </a:spcAft>
            </a:pPr>
            <a:r>
              <a:rPr sz="1100" b="0" i="0">
                <a:solidFill>
                  <a:srgbClr val="5B6770"/>
                </a:solidFill>
                <a:latin typeface="Calibri"/>
              </a:rPr>
              <a:t>Usuarios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774936" y="502920"/>
            <a:ext cx="914400" cy="329184"/>
          </a:xfrm>
          <a:prstGeom prst="roundRect">
            <a:avLst>
              <a:gd name="adj" fmla="val 8000"/>
            </a:avLst>
          </a:prstGeom>
          <a:noFill/>
          <a:ln w="15875">
            <a:solidFill>
              <a:srgbClr val="D5E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600"/>
              </a:spcAft>
            </a:pPr>
            <a:r>
              <a:rPr sz="1100" b="0" i="0">
                <a:solidFill>
                  <a:srgbClr val="5B6770"/>
                </a:solidFill>
                <a:latin typeface="Calibri"/>
              </a:rPr>
              <a:t>MVP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753344" y="502920"/>
            <a:ext cx="914400" cy="329184"/>
          </a:xfrm>
          <a:prstGeom prst="roundRect">
            <a:avLst>
              <a:gd name="adj" fmla="val 8000"/>
            </a:avLst>
          </a:prstGeom>
          <a:noFill/>
          <a:ln w="15875">
            <a:solidFill>
              <a:srgbClr val="D5E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600"/>
              </a:spcAft>
            </a:pPr>
            <a:r>
              <a:rPr sz="1100" b="0" i="0">
                <a:solidFill>
                  <a:srgbClr val="5B6770"/>
                </a:solidFill>
                <a:latin typeface="Calibri"/>
              </a:rPr>
              <a:t>Stack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54480"/>
            <a:ext cx="5120640" cy="4206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800"/>
              </a:spcAft>
            </a:pPr>
            <a:r>
              <a:rPr sz="2400" b="1" i="0">
                <a:solidFill>
                  <a:srgbClr val="0E3B2E"/>
                </a:solidFill>
                <a:latin typeface="Arial"/>
              </a:rPr>
              <a:t>Los clubes chicos y medianos gestionan socios, cuotas e inscripciones con planillas y WhatsApp.</a:t>
            </a:r>
          </a:p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1E7A4F"/>
                </a:solidFill>
                <a:latin typeface="Calibri"/>
              </a:rPr>
              <a:t>Qué resuelve</a:t>
            </a:r>
          </a:p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1F2933"/>
                </a:solidFill>
                <a:latin typeface="Calibri"/>
              </a:rPr>
              <a:t>Un espacio por club para administrar padrón, cobros y actividades, y autogestión para cada socio.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554480"/>
            <a:ext cx="5349240" cy="1280160"/>
          </a:xfrm>
          <a:prstGeom prst="roundRect">
            <a:avLst>
              <a:gd name="adj" fmla="val 8000"/>
            </a:avLst>
          </a:prstGeom>
          <a:solidFill>
            <a:srgbClr val="E7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6537960" y="1938528"/>
            <a:ext cx="502920" cy="502920"/>
          </a:xfrm>
          <a:prstGeom prst="ellipse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600"/>
              </a:spcAft>
            </a:pPr>
            <a:r>
              <a:rPr sz="1800" b="1" i="0">
                <a:solidFill>
                  <a:srgbClr val="0E3B2E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69480" y="1783080"/>
            <a:ext cx="42062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0E3B2E"/>
                </a:solidFill>
                <a:latin typeface="Arial"/>
              </a:rPr>
              <a:t>Información dispersa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5B6770"/>
                </a:solidFill>
                <a:latin typeface="Calibri"/>
              </a:rPr>
              <a:t>Padrón en planillas, pagos en el banco, inscripciones por chat.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3017520"/>
            <a:ext cx="5349240" cy="1280160"/>
          </a:xfrm>
          <a:prstGeom prst="roundRect">
            <a:avLst>
              <a:gd name="adj" fmla="val 8000"/>
            </a:avLst>
          </a:prstGeom>
          <a:solidFill>
            <a:srgbClr val="E7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Oval 11"/>
          <p:cNvSpPr/>
          <p:nvPr/>
        </p:nvSpPr>
        <p:spPr>
          <a:xfrm>
            <a:off x="6537960" y="3401568"/>
            <a:ext cx="502920" cy="502920"/>
          </a:xfrm>
          <a:prstGeom prst="ellipse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600"/>
              </a:spcAft>
            </a:pPr>
            <a:r>
              <a:rPr sz="1800" b="1" i="0">
                <a:solidFill>
                  <a:srgbClr val="0E3B2E"/>
                </a:solidFill>
                <a:latin typeface="Arial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69480" y="3246120"/>
            <a:ext cx="42062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0E3B2E"/>
                </a:solidFill>
                <a:latin typeface="Arial"/>
              </a:rPr>
              <a:t>¿Quién está al día?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5B6770"/>
                </a:solidFill>
                <a:latin typeface="Calibri"/>
              </a:rPr>
              <a:t>No hay una vista simple de las cuotas pendientes del mes.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4480560"/>
            <a:ext cx="5349240" cy="1280160"/>
          </a:xfrm>
          <a:prstGeom prst="roundRect">
            <a:avLst>
              <a:gd name="adj" fmla="val 8000"/>
            </a:avLst>
          </a:prstGeom>
          <a:solidFill>
            <a:srgbClr val="E7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6537960" y="4864608"/>
            <a:ext cx="502920" cy="502920"/>
          </a:xfrm>
          <a:prstGeom prst="ellipse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600"/>
              </a:spcAft>
            </a:pPr>
            <a:r>
              <a:rPr sz="1800" b="1" i="0">
                <a:solidFill>
                  <a:srgbClr val="0E3B2E"/>
                </a:solidFill>
                <a:latin typeface="Arial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69480" y="4709160"/>
            <a:ext cx="42062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0E3B2E"/>
                </a:solidFill>
                <a:latin typeface="Arial"/>
              </a:rPr>
              <a:t>Cupos sin control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5B6770"/>
                </a:solidFill>
                <a:latin typeface="Calibri"/>
              </a:rPr>
              <a:t>Las actividades se sobrecargan o quedan lugares sin usar.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0E3B2E"/>
                </a:solidFill>
                <a:latin typeface="Arial"/>
              </a:rPr>
              <a:t>Para quién 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5B6770"/>
                </a:solidFill>
                <a:latin typeface="Calibri"/>
              </a:rPr>
              <a:t>Tres roles; cada club ve solo sus propios datos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818120" y="502920"/>
            <a:ext cx="914400" cy="329184"/>
          </a:xfrm>
          <a:prstGeom prst="roundRect">
            <a:avLst>
              <a:gd name="adj" fmla="val 8000"/>
            </a:avLst>
          </a:prstGeom>
          <a:noFill/>
          <a:ln w="15875">
            <a:solidFill>
              <a:srgbClr val="D5E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600"/>
              </a:spcAft>
            </a:pPr>
            <a:r>
              <a:rPr sz="1100" b="0" i="0">
                <a:solidFill>
                  <a:srgbClr val="5B6770"/>
                </a:solidFill>
                <a:latin typeface="Calibri"/>
              </a:rPr>
              <a:t>Problema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796528" y="502920"/>
            <a:ext cx="914400" cy="329184"/>
          </a:xfrm>
          <a:prstGeom prst="roundRect">
            <a:avLst>
              <a:gd name="adj" fmla="val 8000"/>
            </a:avLst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600"/>
              </a:spcAft>
            </a:pPr>
            <a:r>
              <a:rPr sz="1100" b="1" i="0">
                <a:solidFill>
                  <a:srgbClr val="0E3B2E"/>
                </a:solidFill>
                <a:latin typeface="Calibri"/>
              </a:rPr>
              <a:t>Usuarios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774936" y="502920"/>
            <a:ext cx="914400" cy="329184"/>
          </a:xfrm>
          <a:prstGeom prst="roundRect">
            <a:avLst>
              <a:gd name="adj" fmla="val 8000"/>
            </a:avLst>
          </a:prstGeom>
          <a:noFill/>
          <a:ln w="15875">
            <a:solidFill>
              <a:srgbClr val="D5E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600"/>
              </a:spcAft>
            </a:pPr>
            <a:r>
              <a:rPr sz="1100" b="0" i="0">
                <a:solidFill>
                  <a:srgbClr val="5B6770"/>
                </a:solidFill>
                <a:latin typeface="Calibri"/>
              </a:rPr>
              <a:t>MVP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753344" y="502920"/>
            <a:ext cx="914400" cy="329184"/>
          </a:xfrm>
          <a:prstGeom prst="roundRect">
            <a:avLst>
              <a:gd name="adj" fmla="val 8000"/>
            </a:avLst>
          </a:prstGeom>
          <a:noFill/>
          <a:ln w="15875">
            <a:solidFill>
              <a:srgbClr val="D5E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600"/>
              </a:spcAft>
            </a:pPr>
            <a:r>
              <a:rPr sz="1100" b="0" i="0">
                <a:solidFill>
                  <a:srgbClr val="5B6770"/>
                </a:solidFill>
                <a:latin typeface="Calibri"/>
              </a:rPr>
              <a:t>Stack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691640"/>
            <a:ext cx="3520440" cy="4023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5E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822959" y="1965960"/>
            <a:ext cx="640080" cy="640080"/>
          </a:xfrm>
          <a:prstGeom prst="ellipse">
            <a:avLst/>
          </a:prstGeom>
          <a:solidFill>
            <a:srgbClr val="0E3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600"/>
              </a:spcAft>
            </a:pPr>
            <a:r>
              <a:rPr sz="2200" b="1" i="0">
                <a:solidFill>
                  <a:srgbClr val="F2A93B"/>
                </a:solidFill>
                <a:latin typeface="Arial"/>
              </a:rPr>
              <a:t>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2834640"/>
            <a:ext cx="2971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 i="0">
                <a:solidFill>
                  <a:srgbClr val="0E3B2E"/>
                </a:solidFill>
                <a:latin typeface="Arial"/>
              </a:rPr>
              <a:t>Admin general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5B6770"/>
                </a:solidFill>
                <a:latin typeface="Calibri"/>
              </a:rPr>
              <a:t>Quien opera la plataforma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3886200"/>
            <a:ext cx="297180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1E7A4F"/>
                </a:solidFill>
                <a:latin typeface="Arial"/>
              </a:rPr>
              <a:t>NECESITA</a:t>
            </a:r>
          </a:p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1F2933"/>
                </a:solidFill>
                <a:latin typeface="Calibri"/>
              </a:rPr>
              <a:t>Dar de alta clubes y asignar quién los administra.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1691640"/>
            <a:ext cx="3520440" cy="4023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5E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Oval 12"/>
          <p:cNvSpPr/>
          <p:nvPr/>
        </p:nvSpPr>
        <p:spPr>
          <a:xfrm>
            <a:off x="4617720" y="1965960"/>
            <a:ext cx="640080" cy="640080"/>
          </a:xfrm>
          <a:prstGeom prst="ellipse">
            <a:avLst/>
          </a:prstGeom>
          <a:solidFill>
            <a:srgbClr val="0E3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600"/>
              </a:spcAft>
            </a:pPr>
            <a:r>
              <a:rPr sz="2200" b="1" i="0">
                <a:solidFill>
                  <a:srgbClr val="F2A93B"/>
                </a:solidFill>
                <a:latin typeface="Arial"/>
              </a:rPr>
              <a:t>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2834640"/>
            <a:ext cx="2971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 i="0">
                <a:solidFill>
                  <a:srgbClr val="0E3B2E"/>
                </a:solidFill>
                <a:latin typeface="Arial"/>
              </a:rPr>
              <a:t>Admin de club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5B6770"/>
                </a:solidFill>
                <a:latin typeface="Calibri"/>
              </a:rPr>
              <a:t>Secretaría o tesorería del club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3886200"/>
            <a:ext cx="297180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1E7A4F"/>
                </a:solidFill>
                <a:latin typeface="Arial"/>
              </a:rPr>
              <a:t>NECESITA</a:t>
            </a:r>
          </a:p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1F2933"/>
                </a:solidFill>
                <a:latin typeface="Calibri"/>
              </a:rPr>
              <a:t>Tener el padrón ordenado, saber quién está al día y controlar los cupos.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1691640"/>
            <a:ext cx="3520440" cy="4023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5E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Oval 16"/>
          <p:cNvSpPr/>
          <p:nvPr/>
        </p:nvSpPr>
        <p:spPr>
          <a:xfrm>
            <a:off x="8412480" y="1965960"/>
            <a:ext cx="640080" cy="640080"/>
          </a:xfrm>
          <a:prstGeom prst="ellipse">
            <a:avLst/>
          </a:prstGeom>
          <a:solidFill>
            <a:srgbClr val="0E3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600"/>
              </a:spcAft>
            </a:pPr>
            <a:r>
              <a:rPr sz="2200" b="1" i="0">
                <a:solidFill>
                  <a:srgbClr val="F2A93B"/>
                </a:solidFill>
                <a:latin typeface="Arial"/>
              </a:rPr>
              <a:t>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2834640"/>
            <a:ext cx="2971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 i="0">
                <a:solidFill>
                  <a:srgbClr val="0E3B2E"/>
                </a:solidFill>
                <a:latin typeface="Arial"/>
              </a:rPr>
              <a:t>Socio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5B6770"/>
                </a:solidFill>
                <a:latin typeface="Calibri"/>
              </a:rPr>
              <a:t>Y su grupo familiar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3886200"/>
            <a:ext cx="297180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1E7A4F"/>
                </a:solidFill>
                <a:latin typeface="Arial"/>
              </a:rPr>
              <a:t>NECESITA</a:t>
            </a:r>
          </a:p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1F2933"/>
                </a:solidFill>
                <a:latin typeface="Calibri"/>
              </a:rPr>
              <a:t>Ver su estado de cuota e inscribirse a actividades sin depender del club.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0E3B2E"/>
                </a:solidFill>
                <a:latin typeface="Arial"/>
              </a:rPr>
              <a:t>MVP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5B6770"/>
                </a:solidFill>
                <a:latin typeface="Calibri"/>
              </a:rPr>
              <a:t>Lo mínimo sin lo que la aplicación no sirve: un recorrido completo por rol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818120" y="502920"/>
            <a:ext cx="914400" cy="329184"/>
          </a:xfrm>
          <a:prstGeom prst="roundRect">
            <a:avLst>
              <a:gd name="adj" fmla="val 8000"/>
            </a:avLst>
          </a:prstGeom>
          <a:noFill/>
          <a:ln w="15875">
            <a:solidFill>
              <a:srgbClr val="D5E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600"/>
              </a:spcAft>
            </a:pPr>
            <a:r>
              <a:rPr sz="1100" b="0" i="0">
                <a:solidFill>
                  <a:srgbClr val="5B6770"/>
                </a:solidFill>
                <a:latin typeface="Calibri"/>
              </a:rPr>
              <a:t>Problema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796528" y="502920"/>
            <a:ext cx="914400" cy="329184"/>
          </a:xfrm>
          <a:prstGeom prst="roundRect">
            <a:avLst>
              <a:gd name="adj" fmla="val 8000"/>
            </a:avLst>
          </a:prstGeom>
          <a:noFill/>
          <a:ln w="15875">
            <a:solidFill>
              <a:srgbClr val="D5E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600"/>
              </a:spcAft>
            </a:pPr>
            <a:r>
              <a:rPr sz="1100" b="0" i="0">
                <a:solidFill>
                  <a:srgbClr val="5B6770"/>
                </a:solidFill>
                <a:latin typeface="Calibri"/>
              </a:rPr>
              <a:t>Usuarios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774936" y="502920"/>
            <a:ext cx="914400" cy="329184"/>
          </a:xfrm>
          <a:prstGeom prst="roundRect">
            <a:avLst>
              <a:gd name="adj" fmla="val 8000"/>
            </a:avLst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600"/>
              </a:spcAft>
            </a:pPr>
            <a:r>
              <a:rPr sz="1100" b="1" i="0">
                <a:solidFill>
                  <a:srgbClr val="0E3B2E"/>
                </a:solidFill>
                <a:latin typeface="Calibri"/>
              </a:rPr>
              <a:t>MVP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753344" y="502920"/>
            <a:ext cx="914400" cy="329184"/>
          </a:xfrm>
          <a:prstGeom prst="roundRect">
            <a:avLst>
              <a:gd name="adj" fmla="val 8000"/>
            </a:avLst>
          </a:prstGeom>
          <a:noFill/>
          <a:ln w="15875">
            <a:solidFill>
              <a:srgbClr val="D5E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600"/>
              </a:spcAft>
            </a:pPr>
            <a:r>
              <a:rPr sz="1100" b="0" i="0">
                <a:solidFill>
                  <a:srgbClr val="5B6770"/>
                </a:solidFill>
                <a:latin typeface="Calibri"/>
              </a:rPr>
              <a:t>Stack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691640"/>
            <a:ext cx="2560320" cy="3246120"/>
          </a:xfrm>
          <a:prstGeom prst="roundRect">
            <a:avLst>
              <a:gd name="adj" fmla="val 8000"/>
            </a:avLst>
          </a:prstGeom>
          <a:solidFill>
            <a:srgbClr val="E7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77240" y="1874519"/>
            <a:ext cx="21488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0E3B2E"/>
                </a:solidFill>
                <a:latin typeface="Arial"/>
              </a:rPr>
              <a:t>Admin general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423160"/>
            <a:ext cx="2148840" cy="2468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01168" indent="-201168">
              <a:spcAft>
                <a:spcPts val="600"/>
              </a:spcAft>
              <a:buChar char="•"/>
            </a:pPr>
            <a:r>
              <a:rPr sz="1400" b="0" i="0">
                <a:solidFill>
                  <a:srgbClr val="1F2933"/>
                </a:solidFill>
                <a:latin typeface="Calibri"/>
              </a:rPr>
              <a:t>Crear un club (nombre + slug)</a:t>
            </a:r>
          </a:p>
          <a:p>
            <a:pPr algn="l" marL="201168" indent="-201168">
              <a:spcAft>
                <a:spcPts val="600"/>
              </a:spcAft>
              <a:buChar char="•"/>
            </a:pPr>
            <a:r>
              <a:rPr sz="1400" b="0" i="0">
                <a:solidFill>
                  <a:srgbClr val="1F2933"/>
                </a:solidFill>
                <a:latin typeface="Calibri"/>
              </a:rPr>
              <a:t>Asignar el admin del club por email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91840" y="1691640"/>
            <a:ext cx="2560320" cy="3246120"/>
          </a:xfrm>
          <a:prstGeom prst="roundRect">
            <a:avLst>
              <a:gd name="adj" fmla="val 8000"/>
            </a:avLst>
          </a:prstGeom>
          <a:solidFill>
            <a:srgbClr val="E7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3520440" y="1874519"/>
            <a:ext cx="21488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0E3B2E"/>
                </a:solidFill>
                <a:latin typeface="Arial"/>
              </a:rPr>
              <a:t>Admin de club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2423160"/>
            <a:ext cx="2148840" cy="2468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01168" indent="-201168">
              <a:spcAft>
                <a:spcPts val="600"/>
              </a:spcAft>
              <a:buChar char="•"/>
            </a:pPr>
            <a:r>
              <a:rPr sz="1400" b="0" i="0">
                <a:solidFill>
                  <a:srgbClr val="1F2933"/>
                </a:solidFill>
                <a:latin typeface="Calibri"/>
              </a:rPr>
              <a:t>Alta, edición y baja de socios</a:t>
            </a:r>
          </a:p>
          <a:p>
            <a:pPr algn="l" marL="201168" indent="-201168">
              <a:spcAft>
                <a:spcPts val="600"/>
              </a:spcAft>
              <a:buChar char="•"/>
            </a:pPr>
            <a:r>
              <a:rPr sz="1400" b="0" i="0">
                <a:solidFill>
                  <a:srgbClr val="1F2933"/>
                </a:solidFill>
                <a:latin typeface="Calibri"/>
              </a:rPr>
              <a:t>Cuota mensual por tipo de socio</a:t>
            </a:r>
          </a:p>
          <a:p>
            <a:pPr algn="l" marL="201168" indent="-201168">
              <a:spcAft>
                <a:spcPts val="600"/>
              </a:spcAft>
              <a:buChar char="•"/>
            </a:pPr>
            <a:r>
              <a:rPr sz="1400" b="0" i="0">
                <a:solidFill>
                  <a:srgbClr val="1F2933"/>
                </a:solidFill>
                <a:latin typeface="Calibri"/>
              </a:rPr>
              <a:t>Registrar los pagos</a:t>
            </a:r>
          </a:p>
          <a:p>
            <a:pPr algn="l" marL="201168" indent="-201168">
              <a:spcAft>
                <a:spcPts val="600"/>
              </a:spcAft>
              <a:buChar char="•"/>
            </a:pPr>
            <a:r>
              <a:rPr sz="1400" b="0" i="0">
                <a:solidFill>
                  <a:srgbClr val="1F2933"/>
                </a:solidFill>
                <a:latin typeface="Calibri"/>
              </a:rPr>
              <a:t>Actividades con cupo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35040" y="1691640"/>
            <a:ext cx="2560320" cy="3246120"/>
          </a:xfrm>
          <a:prstGeom prst="roundRect">
            <a:avLst>
              <a:gd name="adj" fmla="val 8000"/>
            </a:avLst>
          </a:prstGeom>
          <a:solidFill>
            <a:srgbClr val="E7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263640" y="1874519"/>
            <a:ext cx="21488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0E3B2E"/>
                </a:solidFill>
                <a:latin typeface="Arial"/>
              </a:rPr>
              <a:t>Socio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2423160"/>
            <a:ext cx="2148840" cy="2468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01168" indent="-201168">
              <a:spcAft>
                <a:spcPts val="600"/>
              </a:spcAft>
              <a:buChar char="•"/>
            </a:pPr>
            <a:r>
              <a:rPr sz="1400" b="0" i="0">
                <a:solidFill>
                  <a:srgbClr val="1F2933"/>
                </a:solidFill>
                <a:latin typeface="Calibri"/>
              </a:rPr>
              <a:t>Ver si está al día y su historial de pagos</a:t>
            </a:r>
          </a:p>
          <a:p>
            <a:pPr algn="l" marL="201168" indent="-201168">
              <a:spcAft>
                <a:spcPts val="600"/>
              </a:spcAft>
              <a:buChar char="•"/>
            </a:pPr>
            <a:r>
              <a:rPr sz="1400" b="0" i="0">
                <a:solidFill>
                  <a:srgbClr val="1F2933"/>
                </a:solidFill>
                <a:latin typeface="Calibri"/>
              </a:rPr>
              <a:t>Inscribirse o cancelar respetando el cupo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166360"/>
            <a:ext cx="80467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1E7A4F"/>
                </a:solidFill>
                <a:latin typeface="Calibri"/>
              </a:rPr>
              <a:t>Regla clave: “al día” = sin cuotas vencidas impagas. Es la pregunta que el club no puede responder hoy.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15400" y="1691640"/>
            <a:ext cx="2743200" cy="4023360"/>
          </a:xfrm>
          <a:prstGeom prst="roundRect">
            <a:avLst>
              <a:gd name="adj" fmla="val 8000"/>
            </a:avLst>
          </a:prstGeom>
          <a:solidFill>
            <a:srgbClr val="0E3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189720" y="1874519"/>
            <a:ext cx="2240280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200" b="1" i="0">
                <a:solidFill>
                  <a:srgbClr val="F2A93B"/>
                </a:solidFill>
                <a:latin typeface="Arial"/>
              </a:rPr>
              <a:t>FUERA DEL MVP</a:t>
            </a:r>
          </a:p>
          <a:p>
            <a:pPr algn="l" marL="201168" indent="-201168">
              <a:spcAft>
                <a:spcPts val="600"/>
              </a:spcAft>
              <a:buChar char="•"/>
            </a:pPr>
            <a:r>
              <a:rPr sz="1400" b="0" i="0">
                <a:solidFill>
                  <a:srgbClr val="E7F3EC"/>
                </a:solidFill>
                <a:latin typeface="Calibri"/>
              </a:rPr>
              <a:t>Pagos online</a:t>
            </a:r>
          </a:p>
          <a:p>
            <a:pPr algn="l" marL="201168" indent="-201168">
              <a:spcAft>
                <a:spcPts val="600"/>
              </a:spcAft>
              <a:buChar char="•"/>
            </a:pPr>
            <a:r>
              <a:rPr sz="1400" b="0" i="0">
                <a:solidFill>
                  <a:srgbClr val="E7F3EC"/>
                </a:solidFill>
                <a:latin typeface="Calibri"/>
              </a:rPr>
              <a:t>Mails y SMS</a:t>
            </a:r>
          </a:p>
          <a:p>
            <a:pPr algn="l" marL="201168" indent="-201168">
              <a:spcAft>
                <a:spcPts val="600"/>
              </a:spcAft>
              <a:buChar char="•"/>
            </a:pPr>
            <a:r>
              <a:rPr sz="1400" b="0" i="0">
                <a:solidFill>
                  <a:srgbClr val="E7F3EC"/>
                </a:solidFill>
                <a:latin typeface="Calibri"/>
              </a:rPr>
              <a:t>Importar socios por CSV</a:t>
            </a:r>
          </a:p>
          <a:p>
            <a:pPr algn="l" marL="201168" indent="-201168">
              <a:spcAft>
                <a:spcPts val="600"/>
              </a:spcAft>
              <a:buChar char="•"/>
            </a:pPr>
            <a:r>
              <a:rPr sz="1400" b="0" i="0">
                <a:solidFill>
                  <a:srgbClr val="E7F3EC"/>
                </a:solidFill>
                <a:latin typeface="Calibri"/>
              </a:rPr>
              <a:t>Reportes y gráficos</a:t>
            </a:r>
          </a:p>
          <a:p>
            <a:pPr algn="l" marL="201168" indent="-201168">
              <a:spcAft>
                <a:spcPts val="600"/>
              </a:spcAft>
              <a:buChar char="•"/>
            </a:pPr>
            <a:r>
              <a:rPr sz="1400" b="0" i="0">
                <a:solidFill>
                  <a:srgbClr val="E7F3EC"/>
                </a:solidFill>
                <a:latin typeface="Calibri"/>
              </a:rPr>
              <a:t>Un subdominio por club</a:t>
            </a:r>
          </a:p>
          <a:p>
            <a:pPr algn="l" marL="201168" indent="-201168">
              <a:spcAft>
                <a:spcPts val="600"/>
              </a:spcAft>
              <a:buChar char="•"/>
            </a:pPr>
            <a:r>
              <a:rPr sz="1400" b="0" i="0">
                <a:solidFill>
                  <a:srgbClr val="E7F3EC"/>
                </a:solidFill>
                <a:latin typeface="Calibri"/>
              </a:rPr>
              <a:t>Carnet digital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0E3B2E"/>
                </a:solidFill>
                <a:latin typeface="Arial"/>
              </a:rPr>
              <a:t>Lo que construimos en el MVP v1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5B6770"/>
                </a:solidFill>
                <a:latin typeface="Calibri"/>
              </a:rPr>
              <a:t>Un recorrido completo por cada rol, multi-tenant por ruta: /c/&lt;slug&gt;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00200"/>
            <a:ext cx="3520440" cy="2697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5E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Oval 4"/>
          <p:cNvSpPr/>
          <p:nvPr/>
        </p:nvSpPr>
        <p:spPr>
          <a:xfrm>
            <a:off x="822959" y="1828800"/>
            <a:ext cx="548640" cy="548640"/>
          </a:xfrm>
          <a:prstGeom prst="ellipse">
            <a:avLst/>
          </a:prstGeom>
          <a:solidFill>
            <a:srgbClr val="0E3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600"/>
              </a:spcAft>
            </a:pPr>
            <a:r>
              <a:rPr sz="2000" b="1" i="0">
                <a:solidFill>
                  <a:srgbClr val="F2A93B"/>
                </a:solidFill>
                <a:latin typeface="Arial"/>
              </a:rPr>
              <a:t>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1901952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0E3B2E"/>
                </a:solidFill>
                <a:latin typeface="Arial"/>
              </a:rPr>
              <a:t>Admin general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2606040"/>
            <a:ext cx="301752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01168" indent="-201168">
              <a:spcAft>
                <a:spcPts val="500"/>
              </a:spcAft>
              <a:buChar char="•"/>
            </a:pPr>
            <a:r>
              <a:rPr sz="1400" b="0" i="0">
                <a:solidFill>
                  <a:srgbClr val="1F2933"/>
                </a:solidFill>
                <a:latin typeface="Calibri"/>
              </a:rPr>
              <a:t>Crea clubes (nombre + slug)</a:t>
            </a:r>
          </a:p>
          <a:p>
            <a:pPr algn="l" marL="201168" indent="-201168">
              <a:spcAft>
                <a:spcPts val="500"/>
              </a:spcAft>
              <a:buChar char="•"/>
            </a:pPr>
            <a:r>
              <a:rPr sz="1400" b="0" i="0">
                <a:solidFill>
                  <a:srgbClr val="1F2933"/>
                </a:solidFill>
                <a:latin typeface="Calibri"/>
              </a:rPr>
              <a:t>Asigna el admin de cada club por email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600200"/>
            <a:ext cx="3520440" cy="2697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5E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4617720" y="1828800"/>
            <a:ext cx="548640" cy="548640"/>
          </a:xfrm>
          <a:prstGeom prst="ellipse">
            <a:avLst/>
          </a:prstGeom>
          <a:solidFill>
            <a:srgbClr val="0E3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600"/>
              </a:spcAft>
            </a:pPr>
            <a:r>
              <a:rPr sz="2000" b="1" i="0">
                <a:solidFill>
                  <a:srgbClr val="F2A93B"/>
                </a:solidFill>
                <a:latin typeface="Arial"/>
              </a:rPr>
              <a:t>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49240" y="1901952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0E3B2E"/>
                </a:solidFill>
                <a:latin typeface="Arial"/>
              </a:rPr>
              <a:t>Admin de club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2606040"/>
            <a:ext cx="301752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01168" indent="-201168">
              <a:spcAft>
                <a:spcPts val="500"/>
              </a:spcAft>
              <a:buChar char="•"/>
            </a:pPr>
            <a:r>
              <a:rPr sz="1400" b="0" i="0">
                <a:solidFill>
                  <a:srgbClr val="1F2933"/>
                </a:solidFill>
                <a:latin typeface="Calibri"/>
              </a:rPr>
              <a:t>Tipos de socio y cuota mensual</a:t>
            </a:r>
          </a:p>
          <a:p>
            <a:pPr algn="l" marL="201168" indent="-201168">
              <a:spcAft>
                <a:spcPts val="500"/>
              </a:spcAft>
              <a:buChar char="•"/>
            </a:pPr>
            <a:r>
              <a:rPr sz="1400" b="0" i="0">
                <a:solidFill>
                  <a:srgbClr val="1F2933"/>
                </a:solidFill>
                <a:latin typeface="Calibri"/>
              </a:rPr>
              <a:t>Alta, edición y baja de socios</a:t>
            </a:r>
          </a:p>
          <a:p>
            <a:pPr algn="l" marL="201168" indent="-201168">
              <a:spcAft>
                <a:spcPts val="500"/>
              </a:spcAft>
              <a:buChar char="•"/>
            </a:pPr>
            <a:r>
              <a:rPr sz="1400" b="0" i="0">
                <a:solidFill>
                  <a:srgbClr val="1F2933"/>
                </a:solidFill>
                <a:latin typeface="Calibri"/>
              </a:rPr>
              <a:t>Registra pagos del mes</a:t>
            </a:r>
          </a:p>
          <a:p>
            <a:pPr algn="l" marL="201168" indent="-201168">
              <a:spcAft>
                <a:spcPts val="500"/>
              </a:spcAft>
              <a:buChar char="•"/>
            </a:pPr>
            <a:r>
              <a:rPr sz="1400" b="0" i="0">
                <a:solidFill>
                  <a:srgbClr val="1F2933"/>
                </a:solidFill>
                <a:latin typeface="Calibri"/>
              </a:rPr>
              <a:t>Actividades con cupo y resumen del mes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600200"/>
            <a:ext cx="3520440" cy="2697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5E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Oval 12"/>
          <p:cNvSpPr/>
          <p:nvPr/>
        </p:nvSpPr>
        <p:spPr>
          <a:xfrm>
            <a:off x="8412480" y="1828800"/>
            <a:ext cx="548640" cy="548640"/>
          </a:xfrm>
          <a:prstGeom prst="ellipse">
            <a:avLst/>
          </a:prstGeom>
          <a:solidFill>
            <a:srgbClr val="0E3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600"/>
              </a:spcAft>
            </a:pPr>
            <a:r>
              <a:rPr sz="2000" b="1" i="0">
                <a:solidFill>
                  <a:srgbClr val="F2A93B"/>
                </a:solidFill>
                <a:latin typeface="Arial"/>
              </a:rPr>
              <a:t>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0" y="1901952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0E3B2E"/>
                </a:solidFill>
                <a:latin typeface="Arial"/>
              </a:rPr>
              <a:t>Socio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2606040"/>
            <a:ext cx="301752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01168" indent="-201168">
              <a:spcAft>
                <a:spcPts val="500"/>
              </a:spcAft>
              <a:buChar char="•"/>
            </a:pPr>
            <a:r>
              <a:rPr sz="1400" b="0" i="0">
                <a:solidFill>
                  <a:srgbClr val="1F2933"/>
                </a:solidFill>
                <a:latin typeface="Calibri"/>
              </a:rPr>
              <a:t>Ve su estado de cuota e historial de pagos</a:t>
            </a:r>
          </a:p>
          <a:p>
            <a:pPr algn="l" marL="201168" indent="-201168">
              <a:spcAft>
                <a:spcPts val="500"/>
              </a:spcAft>
              <a:buChar char="•"/>
            </a:pPr>
            <a:r>
              <a:rPr sz="1400" b="0" i="0">
                <a:solidFill>
                  <a:srgbClr val="1F2933"/>
                </a:solidFill>
                <a:latin typeface="Calibri"/>
              </a:rPr>
              <a:t>Se inscribe o cancela respetando el cupo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572000"/>
            <a:ext cx="2651760" cy="1417320"/>
          </a:xfrm>
          <a:prstGeom prst="roundRect">
            <a:avLst>
              <a:gd name="adj" fmla="val 8000"/>
            </a:avLst>
          </a:prstGeom>
          <a:solidFill>
            <a:srgbClr val="0E3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777240" y="4754880"/>
            <a:ext cx="21945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F2A93B"/>
                </a:solidFill>
                <a:latin typeface="Arial"/>
              </a:rPr>
              <a:t>ACCESO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Login con Google (NextAuth); cada usuario con su rol por club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368009" y="4572000"/>
            <a:ext cx="2651760" cy="1417320"/>
          </a:xfrm>
          <a:prstGeom prst="roundRect">
            <a:avLst>
              <a:gd name="adj" fmla="val 8000"/>
            </a:avLst>
          </a:prstGeom>
          <a:solidFill>
            <a:srgbClr val="0E3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3596609" y="4754880"/>
            <a:ext cx="21945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F2A93B"/>
                </a:solidFill>
                <a:latin typeface="Arial"/>
              </a:rPr>
              <a:t>DATOS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clubId en cada tabla; “al día” = pago del mes actual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87379" y="4572000"/>
            <a:ext cx="2651760" cy="1417320"/>
          </a:xfrm>
          <a:prstGeom prst="roundRect">
            <a:avLst>
              <a:gd name="adj" fmla="val 8000"/>
            </a:avLst>
          </a:prstGeom>
          <a:solidFill>
            <a:srgbClr val="0E3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415979" y="4754880"/>
            <a:ext cx="21945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F2A93B"/>
                </a:solidFill>
                <a:latin typeface="Arial"/>
              </a:rPr>
              <a:t>RECORTES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Ruta en vez de subdominio; pagos cargados por el club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06748" y="4572000"/>
            <a:ext cx="2651760" cy="1417320"/>
          </a:xfrm>
          <a:prstGeom prst="roundRect">
            <a:avLst>
              <a:gd name="adj" fmla="val 8000"/>
            </a:avLst>
          </a:prstGeom>
          <a:solidFill>
            <a:srgbClr val="0E3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235348" y="4754880"/>
            <a:ext cx="21945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F2A93B"/>
                </a:solidFill>
                <a:latin typeface="Arial"/>
              </a:rPr>
              <a:t>CALIDAD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Vitest · CI en GitHub Actions · Docker y Codespaces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0E3B2E"/>
                </a:solidFill>
                <a:latin typeface="Arial"/>
              </a:rPr>
              <a:t>De la v1 a la v2 en nueve etapas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5B6770"/>
                </a:solidFill>
                <a:latin typeface="Calibri"/>
              </a:rPr>
              <a:t>Cada etapa: spec → plan → implementación, y se cierra con tests, build y demo en verde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91640"/>
            <a:ext cx="2606040" cy="1737360"/>
          </a:xfrm>
          <a:prstGeom prst="roundRect">
            <a:avLst>
              <a:gd name="adj" fmla="val 8000"/>
            </a:avLst>
          </a:prstGeom>
          <a:solidFill>
            <a:srgbClr val="E7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822959" y="1828800"/>
            <a:ext cx="20574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5400" b="1" i="0">
                <a:solidFill>
                  <a:srgbClr val="0E3B2E"/>
                </a:solidFill>
                <a:latin typeface="Arial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59" y="2834640"/>
            <a:ext cx="2057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5B6770"/>
                </a:solidFill>
                <a:latin typeface="Calibri"/>
              </a:rPr>
              <a:t>etapas iteradas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64992" y="1691640"/>
            <a:ext cx="2606040" cy="1737360"/>
          </a:xfrm>
          <a:prstGeom prst="roundRect">
            <a:avLst>
              <a:gd name="adj" fmla="val 8000"/>
            </a:avLst>
          </a:prstGeom>
          <a:solidFill>
            <a:srgbClr val="E7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3639312" y="1828800"/>
            <a:ext cx="20574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5400" b="1" i="0">
                <a:solidFill>
                  <a:srgbClr val="0E3B2E"/>
                </a:solidFill>
                <a:latin typeface="Arial"/>
              </a:rPr>
              <a:t>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39312" y="2834640"/>
            <a:ext cx="2057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5B6770"/>
                </a:solidFill>
                <a:latin typeface="Calibri"/>
              </a:rPr>
              <a:t>módulos por dominio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81344" y="1691640"/>
            <a:ext cx="2606040" cy="1737360"/>
          </a:xfrm>
          <a:prstGeom prst="roundRect">
            <a:avLst>
              <a:gd name="adj" fmla="val 8000"/>
            </a:avLst>
          </a:prstGeom>
          <a:solidFill>
            <a:srgbClr val="E7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55664" y="1828800"/>
            <a:ext cx="20574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5400" b="1" i="0">
                <a:solidFill>
                  <a:srgbClr val="0E3B2E"/>
                </a:solidFill>
                <a:latin typeface="Arial"/>
              </a:rPr>
              <a:t>13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55664" y="2834640"/>
            <a:ext cx="2057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5B6770"/>
                </a:solidFill>
                <a:latin typeface="Calibri"/>
              </a:rPr>
              <a:t>migraciones Prisma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97696" y="1691640"/>
            <a:ext cx="2606040" cy="1737360"/>
          </a:xfrm>
          <a:prstGeom prst="roundRect">
            <a:avLst>
              <a:gd name="adj" fmla="val 8000"/>
            </a:avLst>
          </a:prstGeom>
          <a:solidFill>
            <a:srgbClr val="E7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272016" y="1828800"/>
            <a:ext cx="20574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5400" b="1" i="0">
                <a:solidFill>
                  <a:srgbClr val="0E3B2E"/>
                </a:solidFill>
                <a:latin typeface="Arial"/>
              </a:rPr>
              <a:t>349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72016" y="2834640"/>
            <a:ext cx="2057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5B6770"/>
                </a:solidFill>
                <a:latin typeface="Calibri"/>
              </a:rPr>
              <a:t>tests automatizados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129284" y="4206240"/>
            <a:ext cx="9875520" cy="0"/>
          </a:xfrm>
          <a:prstGeom prst="line">
            <a:avLst/>
          </a:prstGeom>
          <a:ln w="25400">
            <a:solidFill>
              <a:srgbClr val="D5E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900684" y="3977639"/>
            <a:ext cx="457200" cy="457200"/>
          </a:xfrm>
          <a:prstGeom prst="ellipse">
            <a:avLst/>
          </a:prstGeom>
          <a:solidFill>
            <a:srgbClr val="0E3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600"/>
              </a:spcAft>
            </a:pPr>
            <a:r>
              <a:rPr sz="1600" b="1" i="0">
                <a:solidFill>
                  <a:srgbClr val="F2A93B"/>
                </a:solidFill>
                <a:latin typeface="Arial"/>
              </a:rPr>
              <a:t>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572000"/>
            <a:ext cx="116128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 i="0">
                <a:solidFill>
                  <a:srgbClr val="0E3B2E"/>
                </a:solidFill>
                <a:latin typeface="Calibri"/>
              </a:rPr>
              <a:t>Base</a:t>
            </a:r>
          </a:p>
        </p:txBody>
      </p:sp>
      <p:sp>
        <p:nvSpPr>
          <p:cNvPr id="19" name="Oval 18"/>
          <p:cNvSpPr/>
          <p:nvPr/>
        </p:nvSpPr>
        <p:spPr>
          <a:xfrm>
            <a:off x="2135124" y="3977639"/>
            <a:ext cx="457200" cy="457200"/>
          </a:xfrm>
          <a:prstGeom prst="ellipse">
            <a:avLst/>
          </a:prstGeom>
          <a:solidFill>
            <a:srgbClr val="0E3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600"/>
              </a:spcAft>
            </a:pPr>
            <a:r>
              <a:rPr sz="1600" b="1" i="0">
                <a:solidFill>
                  <a:srgbClr val="F2A93B"/>
                </a:solidFill>
                <a:latin typeface="Arial"/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83080" y="4572000"/>
            <a:ext cx="116128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 i="0">
                <a:solidFill>
                  <a:srgbClr val="0E3B2E"/>
                </a:solidFill>
                <a:latin typeface="Calibri"/>
              </a:rPr>
              <a:t>Cuenta corriente</a:t>
            </a:r>
          </a:p>
        </p:txBody>
      </p:sp>
      <p:sp>
        <p:nvSpPr>
          <p:cNvPr id="21" name="Oval 20"/>
          <p:cNvSpPr/>
          <p:nvPr/>
        </p:nvSpPr>
        <p:spPr>
          <a:xfrm>
            <a:off x="3369564" y="3977639"/>
            <a:ext cx="457200" cy="457200"/>
          </a:xfrm>
          <a:prstGeom prst="ellipse">
            <a:avLst/>
          </a:prstGeom>
          <a:solidFill>
            <a:srgbClr val="0E3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600"/>
              </a:spcAft>
            </a:pPr>
            <a:r>
              <a:rPr sz="1600" b="1" i="0">
                <a:solidFill>
                  <a:srgbClr val="F2A93B"/>
                </a:solidFill>
                <a:latin typeface="Arial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17520" y="4572000"/>
            <a:ext cx="116128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 i="0">
                <a:solidFill>
                  <a:srgbClr val="0E3B2E"/>
                </a:solidFill>
                <a:latin typeface="Calibri"/>
              </a:rPr>
              <a:t>Calendario</a:t>
            </a:r>
          </a:p>
        </p:txBody>
      </p:sp>
      <p:sp>
        <p:nvSpPr>
          <p:cNvPr id="23" name="Oval 22"/>
          <p:cNvSpPr/>
          <p:nvPr/>
        </p:nvSpPr>
        <p:spPr>
          <a:xfrm>
            <a:off x="4604004" y="3977639"/>
            <a:ext cx="457200" cy="457200"/>
          </a:xfrm>
          <a:prstGeom prst="ellipse">
            <a:avLst/>
          </a:prstGeom>
          <a:solidFill>
            <a:srgbClr val="0E3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600"/>
              </a:spcAft>
            </a:pPr>
            <a:r>
              <a:rPr sz="1600" b="1" i="0">
                <a:solidFill>
                  <a:srgbClr val="F2A93B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51960" y="4572000"/>
            <a:ext cx="116128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 i="0">
                <a:solidFill>
                  <a:srgbClr val="0E3B2E"/>
                </a:solidFill>
                <a:latin typeface="Calibri"/>
              </a:rPr>
              <a:t>Agenda</a:t>
            </a:r>
          </a:p>
        </p:txBody>
      </p:sp>
      <p:sp>
        <p:nvSpPr>
          <p:cNvPr id="25" name="Oval 24"/>
          <p:cNvSpPr/>
          <p:nvPr/>
        </p:nvSpPr>
        <p:spPr>
          <a:xfrm>
            <a:off x="5838444" y="3977639"/>
            <a:ext cx="457200" cy="457200"/>
          </a:xfrm>
          <a:prstGeom prst="ellipse">
            <a:avLst/>
          </a:prstGeom>
          <a:solidFill>
            <a:srgbClr val="0E3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600"/>
              </a:spcAft>
            </a:pPr>
            <a:r>
              <a:rPr sz="1600" b="1" i="0">
                <a:solidFill>
                  <a:srgbClr val="F2A93B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0" y="4572000"/>
            <a:ext cx="116128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 i="0">
                <a:solidFill>
                  <a:srgbClr val="0E3B2E"/>
                </a:solidFill>
                <a:latin typeface="Calibri"/>
              </a:rPr>
              <a:t>Notificaciones</a:t>
            </a:r>
          </a:p>
        </p:txBody>
      </p:sp>
      <p:sp>
        <p:nvSpPr>
          <p:cNvPr id="27" name="Oval 26"/>
          <p:cNvSpPr/>
          <p:nvPr/>
        </p:nvSpPr>
        <p:spPr>
          <a:xfrm>
            <a:off x="7072883" y="3977639"/>
            <a:ext cx="457200" cy="457200"/>
          </a:xfrm>
          <a:prstGeom prst="ellipse">
            <a:avLst/>
          </a:prstGeom>
          <a:solidFill>
            <a:srgbClr val="0E3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600"/>
              </a:spcAft>
            </a:pPr>
            <a:r>
              <a:rPr sz="1600" b="1" i="0">
                <a:solidFill>
                  <a:srgbClr val="F2A93B"/>
                </a:solidFill>
                <a:latin typeface="Arial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20840" y="4572000"/>
            <a:ext cx="116128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 i="0">
                <a:solidFill>
                  <a:srgbClr val="0E3B2E"/>
                </a:solidFill>
                <a:latin typeface="Calibri"/>
              </a:rPr>
              <a:t>Acceso</a:t>
            </a:r>
          </a:p>
        </p:txBody>
      </p:sp>
      <p:sp>
        <p:nvSpPr>
          <p:cNvPr id="29" name="Oval 28"/>
          <p:cNvSpPr/>
          <p:nvPr/>
        </p:nvSpPr>
        <p:spPr>
          <a:xfrm>
            <a:off x="8307324" y="3977639"/>
            <a:ext cx="457200" cy="457200"/>
          </a:xfrm>
          <a:prstGeom prst="ellipse">
            <a:avLst/>
          </a:prstGeom>
          <a:solidFill>
            <a:srgbClr val="0E3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600"/>
              </a:spcAft>
            </a:pPr>
            <a:r>
              <a:rPr sz="1600" b="1" i="0">
                <a:solidFill>
                  <a:srgbClr val="F2A93B"/>
                </a:solidFill>
                <a:latin typeface="Arial"/>
              </a:rPr>
              <a:t>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55280" y="4572000"/>
            <a:ext cx="116128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 i="0">
                <a:solidFill>
                  <a:srgbClr val="0E3B2E"/>
                </a:solidFill>
                <a:latin typeface="Calibri"/>
              </a:rPr>
              <a:t>Socios</a:t>
            </a:r>
          </a:p>
        </p:txBody>
      </p:sp>
      <p:sp>
        <p:nvSpPr>
          <p:cNvPr id="31" name="Oval 30"/>
          <p:cNvSpPr/>
          <p:nvPr/>
        </p:nvSpPr>
        <p:spPr>
          <a:xfrm>
            <a:off x="9541764" y="3977639"/>
            <a:ext cx="457200" cy="457200"/>
          </a:xfrm>
          <a:prstGeom prst="ellipse">
            <a:avLst/>
          </a:prstGeom>
          <a:solidFill>
            <a:srgbClr val="0E3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600"/>
              </a:spcAft>
            </a:pPr>
            <a:r>
              <a:rPr sz="1600" b="1" i="0">
                <a:solidFill>
                  <a:srgbClr val="F2A93B"/>
                </a:solidFill>
                <a:latin typeface="Arial"/>
              </a:rPr>
              <a:t>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89720" y="4572000"/>
            <a:ext cx="116128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 i="0">
                <a:solidFill>
                  <a:srgbClr val="0E3B2E"/>
                </a:solidFill>
                <a:latin typeface="Calibri"/>
              </a:rPr>
              <a:t>Reportes</a:t>
            </a:r>
          </a:p>
        </p:txBody>
      </p:sp>
      <p:sp>
        <p:nvSpPr>
          <p:cNvPr id="33" name="Oval 32"/>
          <p:cNvSpPr/>
          <p:nvPr/>
        </p:nvSpPr>
        <p:spPr>
          <a:xfrm>
            <a:off x="10776204" y="3977639"/>
            <a:ext cx="457200" cy="457200"/>
          </a:xfrm>
          <a:prstGeom prst="ellipse">
            <a:avLst/>
          </a:prstGeom>
          <a:solidFill>
            <a:srgbClr val="0E3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600"/>
              </a:spcAft>
            </a:pPr>
            <a:r>
              <a:rPr sz="1600" b="1" i="0">
                <a:solidFill>
                  <a:srgbClr val="F2A93B"/>
                </a:solidFill>
                <a:latin typeface="Arial"/>
              </a:rPr>
              <a:t>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424160" y="4572000"/>
            <a:ext cx="116128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 i="0">
                <a:solidFill>
                  <a:srgbClr val="0E3B2E"/>
                </a:solidFill>
                <a:latin typeface="Calibri"/>
              </a:rPr>
              <a:t>Subdominios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562356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E7A4F"/>
                </a:solidFill>
                <a:latin typeface="Calibri"/>
              </a:rPr>
              <a:t>Misma arquitectura de la v1 (Next.js + Prisma/Postgres + NextAuth, multi-tenant por clubId), ahora modular y con historial de migraciones.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0E3B2E"/>
                </a:solidFill>
                <a:latin typeface="Arial"/>
              </a:rPr>
              <a:t>Cuenta corriente y pagos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5B6770"/>
                </a:solidFill>
                <a:latin typeface="Calibri"/>
              </a:rPr>
              <a:t>De “un pago por mes” a cargos y pagos por socio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91640"/>
            <a:ext cx="3520440" cy="1600200"/>
          </a:xfrm>
          <a:prstGeom prst="roundRect">
            <a:avLst>
              <a:gd name="adj" fmla="val 8000"/>
            </a:avLst>
          </a:prstGeom>
          <a:solidFill>
            <a:srgbClr val="E7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822959" y="1783080"/>
            <a:ext cx="2971800" cy="1417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1" i="0">
                <a:solidFill>
                  <a:srgbClr val="0E3B2E"/>
                </a:solidFill>
                <a:latin typeface="Arial"/>
              </a:rPr>
              <a:t>Cargos</a:t>
            </a:r>
          </a:p>
          <a:p>
            <a:pPr algn="ctr">
              <a:spcAft>
                <a:spcPts val="600"/>
              </a:spcAft>
            </a:pPr>
            <a:r>
              <a:rPr sz="1400" b="0" i="0">
                <a:solidFill>
                  <a:srgbClr val="5B6770"/>
                </a:solidFill>
                <a:latin typeface="Calibri"/>
              </a:rPr>
              <a:t>Cuota social mensual
Clase o evento con precio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114800" y="2487168"/>
            <a:ext cx="182879" cy="0"/>
          </a:xfrm>
          <a:prstGeom prst="line">
            <a:avLst/>
          </a:prstGeom>
          <a:ln w="25400">
            <a:solidFill>
              <a:srgbClr val="1E7A4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4343400" y="1691640"/>
            <a:ext cx="3520440" cy="1600200"/>
          </a:xfrm>
          <a:prstGeom prst="roundRect">
            <a:avLst>
              <a:gd name="adj" fmla="val 8000"/>
            </a:avLst>
          </a:prstGeom>
          <a:solidFill>
            <a:srgbClr val="0E3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4617720" y="1783080"/>
            <a:ext cx="2971800" cy="1417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1" i="0">
                <a:solidFill>
                  <a:srgbClr val="FFFFFF"/>
                </a:solidFill>
                <a:latin typeface="Arial"/>
              </a:rPr>
              <a:t>Pago</a:t>
            </a:r>
          </a:p>
          <a:p>
            <a:pPr algn="ctr">
              <a:spcAft>
                <a:spcPts val="600"/>
              </a:spcAft>
            </a:pPr>
            <a:r>
              <a:rPr sz="1400" b="0" i="0">
                <a:solidFill>
                  <a:srgbClr val="E7F3EC"/>
                </a:solidFill>
                <a:latin typeface="Calibri"/>
              </a:rPr>
              <a:t>Online (pasarela simulada)
o en ventanilla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909560" y="2487168"/>
            <a:ext cx="182880" cy="0"/>
          </a:xfrm>
          <a:prstGeom prst="line">
            <a:avLst/>
          </a:prstGeom>
          <a:ln w="25400">
            <a:solidFill>
              <a:srgbClr val="1E7A4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8138160" y="1691640"/>
            <a:ext cx="3520440" cy="1600200"/>
          </a:xfrm>
          <a:prstGeom prst="roundRect">
            <a:avLst>
              <a:gd name="adj" fmla="val 8000"/>
            </a:avLst>
          </a:prstGeom>
          <a:solidFill>
            <a:srgbClr val="E7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412480" y="1783080"/>
            <a:ext cx="2971800" cy="1417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1" i="0">
                <a:solidFill>
                  <a:srgbClr val="0E3B2E"/>
                </a:solidFill>
                <a:latin typeface="Arial"/>
              </a:rPr>
              <a:t>Cuenta del club</a:t>
            </a:r>
          </a:p>
          <a:p>
            <a:pPr algn="ctr">
              <a:spcAft>
                <a:spcPts val="600"/>
              </a:spcAft>
            </a:pPr>
            <a:r>
              <a:rPr sz="1400" b="0" i="0">
                <a:solidFill>
                  <a:srgbClr val="5B6770"/>
                </a:solidFill>
                <a:latin typeface="Calibri"/>
              </a:rPr>
              <a:t>Acreditaciones derivadas
de los pagos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657600"/>
            <a:ext cx="3520440" cy="2468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5E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Oval 12"/>
          <p:cNvSpPr/>
          <p:nvPr/>
        </p:nvSpPr>
        <p:spPr>
          <a:xfrm>
            <a:off x="822959" y="3931920"/>
            <a:ext cx="502920" cy="502920"/>
          </a:xfrm>
          <a:prstGeom prst="ellipse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600"/>
              </a:spcAft>
            </a:pPr>
            <a:r>
              <a:rPr sz="1800" b="1" i="0">
                <a:solidFill>
                  <a:srgbClr val="0E3B2E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59" y="4617720"/>
            <a:ext cx="29718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0E3B2E"/>
                </a:solidFill>
                <a:latin typeface="Arial"/>
              </a:rPr>
              <a:t>Al día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F2933"/>
                </a:solidFill>
                <a:latin typeface="Calibri"/>
              </a:rPr>
              <a:t>Sin cargos vencidos impagos. El vencimiento es configurable por club (día 1 a 28).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43400" y="3657600"/>
            <a:ext cx="3520440" cy="2468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5E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Oval 15"/>
          <p:cNvSpPr/>
          <p:nvPr/>
        </p:nvSpPr>
        <p:spPr>
          <a:xfrm>
            <a:off x="4617720" y="3931920"/>
            <a:ext cx="502920" cy="502920"/>
          </a:xfrm>
          <a:prstGeom prst="ellipse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600"/>
              </a:spcAft>
            </a:pPr>
            <a:r>
              <a:rPr sz="1800" b="1" i="0">
                <a:solidFill>
                  <a:srgbClr val="0E3B2E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7720" y="4617720"/>
            <a:ext cx="29718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0E3B2E"/>
                </a:solidFill>
                <a:latin typeface="Arial"/>
              </a:rPr>
              <a:t>Grupo familiar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F2933"/>
                </a:solidFill>
                <a:latin typeface="Calibri"/>
              </a:rPr>
              <a:t>Un titular y sus familiares: solo el titular paga, y cada cargo se acredita en la cuenta de su socio.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38160" y="3657600"/>
            <a:ext cx="3520440" cy="2468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5E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Oval 18"/>
          <p:cNvSpPr/>
          <p:nvPr/>
        </p:nvSpPr>
        <p:spPr>
          <a:xfrm>
            <a:off x="8412480" y="3931920"/>
            <a:ext cx="502920" cy="502920"/>
          </a:xfrm>
          <a:prstGeom prst="ellipse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600"/>
              </a:spcAft>
            </a:pPr>
            <a:r>
              <a:rPr sz="1800" b="1" i="0">
                <a:solidFill>
                  <a:srgbClr val="0E3B2E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4617720"/>
            <a:ext cx="29718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0E3B2E"/>
                </a:solidFill>
                <a:latin typeface="Arial"/>
              </a:rPr>
              <a:t>Pasarela enchufable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F2933"/>
                </a:solidFill>
                <a:latin typeface="Calibri"/>
              </a:rPr>
              <a:t>Interfaz Pasarela: simulada con tarjetas de prueba; Mercado Pago queda como esqueleto.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0E3B2E"/>
                </a:solidFill>
                <a:latin typeface="Arial"/>
              </a:rPr>
              <a:t>Agenda única con reserva por clase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417320"/>
            <a:ext cx="5394960" cy="4343400"/>
          </a:xfrm>
          <a:prstGeom prst="roundRect">
            <a:avLst>
              <a:gd name="adj" fmla="val 8000"/>
            </a:avLst>
          </a:prstGeom>
          <a:solidFill>
            <a:srgbClr val="E7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71845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 i="0">
                <a:solidFill>
                  <a:srgbClr val="1E7A4F"/>
                </a:solidFill>
                <a:latin typeface="Calibri"/>
              </a:rPr>
              <a:t>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49977" y="1600200"/>
            <a:ext cx="71845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 i="0">
                <a:solidFill>
                  <a:srgbClr val="1E7A4F"/>
                </a:solidFill>
                <a:latin typeface="Calibri"/>
              </a:rPr>
              <a:t>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68434" y="1600200"/>
            <a:ext cx="71845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 i="0">
                <a:solidFill>
                  <a:srgbClr val="1E7A4F"/>
                </a:solidFill>
                <a:latin typeface="Calibri"/>
              </a:rPr>
              <a:t>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86891" y="1600200"/>
            <a:ext cx="71845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 i="0">
                <a:solidFill>
                  <a:srgbClr val="1E7A4F"/>
                </a:solidFill>
                <a:latin typeface="Calibri"/>
              </a:rPr>
              <a:t>J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05348" y="1600200"/>
            <a:ext cx="71845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 i="0">
                <a:solidFill>
                  <a:srgbClr val="1E7A4F"/>
                </a:solidFill>
                <a:latin typeface="Calibri"/>
              </a:rPr>
              <a:t>V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23805" y="1600200"/>
            <a:ext cx="71845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 i="0">
                <a:solidFill>
                  <a:srgbClr val="1E7A4F"/>
                </a:solidFill>
                <a:latin typeface="Calibri"/>
              </a:rPr>
              <a:t>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42262" y="1600200"/>
            <a:ext cx="71845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 i="0">
                <a:solidFill>
                  <a:srgbClr val="1E7A4F"/>
                </a:solidFill>
                <a:latin typeface="Calibri"/>
              </a:rPr>
              <a:t>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8096" y="2377440"/>
            <a:ext cx="645305" cy="731520"/>
          </a:xfrm>
          <a:prstGeom prst="roundRect">
            <a:avLst>
              <a:gd name="adj" fmla="val 8000"/>
            </a:avLst>
          </a:prstGeom>
          <a:solidFill>
            <a:srgbClr val="0E3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60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Natación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205010" y="2377440"/>
            <a:ext cx="645305" cy="731520"/>
          </a:xfrm>
          <a:prstGeom prst="roundRect">
            <a:avLst>
              <a:gd name="adj" fmla="val 8000"/>
            </a:avLst>
          </a:prstGeom>
          <a:solidFill>
            <a:srgbClr val="0E3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60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Natación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486553" y="3383280"/>
            <a:ext cx="645305" cy="731520"/>
          </a:xfrm>
          <a:prstGeom prst="roundRect">
            <a:avLst>
              <a:gd name="adj" fmla="val 8000"/>
            </a:avLst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600"/>
              </a:spcAft>
            </a:pPr>
            <a:r>
              <a:rPr sz="1000" b="1" i="0">
                <a:solidFill>
                  <a:srgbClr val="0E3B2E"/>
                </a:solidFill>
                <a:latin typeface="Calibri"/>
              </a:rPr>
              <a:t>Yoga
lleno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923467" y="3383280"/>
            <a:ext cx="645305" cy="731520"/>
          </a:xfrm>
          <a:prstGeom prst="roundRect">
            <a:avLst>
              <a:gd name="adj" fmla="val 8000"/>
            </a:avLst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600"/>
              </a:spcAft>
            </a:pPr>
            <a:r>
              <a:rPr sz="1000" b="1" i="0">
                <a:solidFill>
                  <a:srgbClr val="0E3B2E"/>
                </a:solidFill>
                <a:latin typeface="Calibri"/>
              </a:rPr>
              <a:t>Yoga
lleno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41924" y="4389120"/>
            <a:ext cx="645305" cy="731520"/>
          </a:xfrm>
          <a:prstGeom prst="roundRect">
            <a:avLst>
              <a:gd name="adj" fmla="val 8000"/>
            </a:avLst>
          </a:prstGeom>
          <a:solidFill>
            <a:srgbClr val="0E3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60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Funcional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60381" y="2834640"/>
            <a:ext cx="645305" cy="1005840"/>
          </a:xfrm>
          <a:prstGeom prst="roundRect">
            <a:avLst>
              <a:gd name="adj" fmla="val 8000"/>
            </a:avLst>
          </a:prstGeom>
          <a:solidFill>
            <a:srgbClr val="1E7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60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Clínica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205010" y="4389120"/>
            <a:ext cx="645305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5E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600"/>
              </a:spcAft>
            </a:pPr>
            <a:r>
              <a:rPr sz="1000" b="1" i="0">
                <a:solidFill>
                  <a:srgbClr val="0E3B2E"/>
                </a:solidFill>
                <a:latin typeface="Calibri"/>
              </a:rPr>
              <a:t>Sin
clase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521208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5B6770"/>
                </a:solidFill>
                <a:latin typeface="Calibri"/>
              </a:rPr>
              <a:t>Vistas semana · mes · lista, sin librería de calendario</a:t>
            </a:r>
          </a:p>
        </p:txBody>
      </p:sp>
      <p:sp>
        <p:nvSpPr>
          <p:cNvPr id="19" name="Oval 18"/>
          <p:cNvSpPr/>
          <p:nvPr/>
        </p:nvSpPr>
        <p:spPr>
          <a:xfrm>
            <a:off x="6355080" y="1463040"/>
            <a:ext cx="502920" cy="502920"/>
          </a:xfrm>
          <a:prstGeom prst="ellipse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600"/>
              </a:spcAft>
            </a:pPr>
            <a:r>
              <a:rPr sz="1800" b="1" i="0">
                <a:solidFill>
                  <a:srgbClr val="0E3B2E"/>
                </a:solidFill>
                <a:latin typeface="Arial"/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86600" y="1417320"/>
            <a:ext cx="457200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 i="0">
                <a:solidFill>
                  <a:srgbClr val="0E3B2E"/>
                </a:solidFill>
                <a:latin typeface="Arial"/>
              </a:rPr>
              <a:t>Actividades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F2933"/>
                </a:solidFill>
                <a:latin typeface="Calibri"/>
              </a:rPr>
              <a:t>Varios horarios semanales, inicio y fin. Las clases se calculan; solo se guardan suspensiones y reprogramaciones.</a:t>
            </a:r>
          </a:p>
        </p:txBody>
      </p:sp>
      <p:sp>
        <p:nvSpPr>
          <p:cNvPr id="21" name="Oval 20"/>
          <p:cNvSpPr/>
          <p:nvPr/>
        </p:nvSpPr>
        <p:spPr>
          <a:xfrm>
            <a:off x="6355080" y="2578608"/>
            <a:ext cx="502920" cy="502920"/>
          </a:xfrm>
          <a:prstGeom prst="ellipse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600"/>
              </a:spcAft>
            </a:pPr>
            <a:r>
              <a:rPr sz="1800" b="1" i="0">
                <a:solidFill>
                  <a:srgbClr val="0E3B2E"/>
                </a:solidFill>
                <a:latin typeface="Arial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86600" y="2532888"/>
            <a:ext cx="457200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 i="0">
                <a:solidFill>
                  <a:srgbClr val="0E3B2E"/>
                </a:solidFill>
                <a:latin typeface="Arial"/>
              </a:rPr>
              <a:t>Eventos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F2933"/>
                </a:solidFill>
                <a:latin typeface="Calibri"/>
              </a:rPr>
              <a:t>Puntuales, con inscripción, cupo y precio opcionales.</a:t>
            </a:r>
          </a:p>
        </p:txBody>
      </p:sp>
      <p:sp>
        <p:nvSpPr>
          <p:cNvPr id="23" name="Oval 22"/>
          <p:cNvSpPr/>
          <p:nvPr/>
        </p:nvSpPr>
        <p:spPr>
          <a:xfrm>
            <a:off x="6355080" y="3694176"/>
            <a:ext cx="502920" cy="502920"/>
          </a:xfrm>
          <a:prstGeom prst="ellipse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600"/>
              </a:spcAft>
            </a:pPr>
            <a:r>
              <a:rPr sz="1800" b="1" i="0">
                <a:solidFill>
                  <a:srgbClr val="0E3B2E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86600" y="3648456"/>
            <a:ext cx="457200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 i="0">
                <a:solidFill>
                  <a:srgbClr val="0E3B2E"/>
                </a:solidFill>
                <a:latin typeface="Arial"/>
              </a:rPr>
              <a:t>Reserva por clase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F2933"/>
                </a:solidFill>
                <a:latin typeface="Calibri"/>
              </a:rPr>
              <a:t>Cupo por clase; clases sueltas o un horario por N semanas. Si tiene precio, genera un cargo.</a:t>
            </a:r>
          </a:p>
        </p:txBody>
      </p:sp>
      <p:sp>
        <p:nvSpPr>
          <p:cNvPr id="25" name="Oval 24"/>
          <p:cNvSpPr/>
          <p:nvPr/>
        </p:nvSpPr>
        <p:spPr>
          <a:xfrm>
            <a:off x="6355080" y="4809744"/>
            <a:ext cx="502920" cy="502920"/>
          </a:xfrm>
          <a:prstGeom prst="ellipse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600"/>
              </a:spcAft>
            </a:pPr>
            <a:r>
              <a:rPr sz="1800" b="1" i="0">
                <a:solidFill>
                  <a:srgbClr val="0E3B2E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86600" y="4764024"/>
            <a:ext cx="457200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 i="0">
                <a:solidFill>
                  <a:srgbClr val="0E3B2E"/>
                </a:solidFill>
                <a:latin typeface="Arial"/>
              </a:rPr>
              <a:t>Lista de espera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F2933"/>
                </a:solidFill>
                <a:latin typeface="Calibri"/>
              </a:rPr>
              <a:t>Al liberarse un lugar se avisa a toda la lista; nadie entra solo.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0E3B2E"/>
                </a:solidFill>
                <a:latin typeface="Arial"/>
              </a:rPr>
              <a:t>Y además, en la v2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5B6770"/>
                </a:solidFill>
                <a:latin typeface="Calibri"/>
              </a:rPr>
              <a:t>Lo que dejamos fuera del MVP, ya construido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91640"/>
            <a:ext cx="352044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5E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Oval 4"/>
          <p:cNvSpPr/>
          <p:nvPr/>
        </p:nvSpPr>
        <p:spPr>
          <a:xfrm>
            <a:off x="822959" y="1965960"/>
            <a:ext cx="502920" cy="502920"/>
          </a:xfrm>
          <a:prstGeom prst="ellipse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600"/>
              </a:spcAft>
            </a:pPr>
            <a:r>
              <a:rPr sz="1800" b="1" i="0">
                <a:solidFill>
                  <a:srgbClr val="0E3B2E"/>
                </a:solidFill>
                <a:latin typeface="Arial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2039112"/>
            <a:ext cx="2514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0E3B2E"/>
                </a:solidFill>
                <a:latin typeface="Arial"/>
              </a:rPr>
              <a:t>Notificaciones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2606040"/>
            <a:ext cx="297180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F2933"/>
                </a:solidFill>
                <a:latin typeface="Calibri"/>
              </a:rPr>
              <a:t>In-app siempre; mail y SMS según active cada club. Pago acreditado, clase suspendida, lugar liberado.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691640"/>
            <a:ext cx="352044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5E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4617720" y="1965960"/>
            <a:ext cx="502920" cy="502920"/>
          </a:xfrm>
          <a:prstGeom prst="ellipse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600"/>
              </a:spcAft>
            </a:pPr>
            <a:r>
              <a:rPr sz="1800" b="1" i="0">
                <a:solidFill>
                  <a:srgbClr val="0E3B2E"/>
                </a:solidFill>
                <a:latin typeface="Arial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57800" y="2039112"/>
            <a:ext cx="2514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0E3B2E"/>
                </a:solidFill>
                <a:latin typeface="Arial"/>
              </a:rPr>
              <a:t>Ingreso sin clave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2606040"/>
            <a:ext cx="297180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F2933"/>
                </a:solidFill>
                <a:latin typeface="Calibri"/>
              </a:rPr>
              <a:t>Link mágico por mail (15 min, un solo uso) e invitaciones al crear un club o un socio.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691640"/>
            <a:ext cx="352044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5E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Oval 12"/>
          <p:cNvSpPr/>
          <p:nvPr/>
        </p:nvSpPr>
        <p:spPr>
          <a:xfrm>
            <a:off x="8412480" y="1965960"/>
            <a:ext cx="502920" cy="502920"/>
          </a:xfrm>
          <a:prstGeom prst="ellipse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600"/>
              </a:spcAft>
            </a:pPr>
            <a:r>
              <a:rPr sz="1800" b="1" i="0">
                <a:solidFill>
                  <a:srgbClr val="0E3B2E"/>
                </a:solidFill>
                <a:latin typeface="Arial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0" y="2039112"/>
            <a:ext cx="2514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0E3B2E"/>
                </a:solidFill>
                <a:latin typeface="Arial"/>
              </a:rPr>
              <a:t>Socios en bloque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2606040"/>
            <a:ext cx="297180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F2933"/>
                </a:solidFill>
                <a:latin typeface="Calibri"/>
              </a:rPr>
              <a:t>Importar CSV con vista previa y confirmación todo o nada; grupo familiar con un titular que paga.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931920"/>
            <a:ext cx="352044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5E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Oval 16"/>
          <p:cNvSpPr/>
          <p:nvPr/>
        </p:nvSpPr>
        <p:spPr>
          <a:xfrm>
            <a:off x="822959" y="4206240"/>
            <a:ext cx="502920" cy="502920"/>
          </a:xfrm>
          <a:prstGeom prst="ellipse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600"/>
              </a:spcAft>
            </a:pPr>
            <a:r>
              <a:rPr sz="1800" b="1" i="0">
                <a:solidFill>
                  <a:srgbClr val="0E3B2E"/>
                </a:solidFill>
                <a:latin typeface="Arial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4279392"/>
            <a:ext cx="2514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0E3B2E"/>
                </a:solidFill>
                <a:latin typeface="Arial"/>
              </a:rPr>
              <a:t>Reportes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59" y="4846320"/>
            <a:ext cx="297180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F2933"/>
                </a:solidFill>
                <a:latin typeface="Calibri"/>
              </a:rPr>
              <a:t>Socios al día, emitido vs. cobrado, morosidad, ocupación y puntaje de actividades.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43400" y="3931920"/>
            <a:ext cx="352044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5E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Oval 20"/>
          <p:cNvSpPr/>
          <p:nvPr/>
        </p:nvSpPr>
        <p:spPr>
          <a:xfrm>
            <a:off x="4617720" y="4206240"/>
            <a:ext cx="502920" cy="502920"/>
          </a:xfrm>
          <a:prstGeom prst="ellipse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600"/>
              </a:spcAft>
            </a:pPr>
            <a:r>
              <a:rPr sz="1800" b="1" i="0">
                <a:solidFill>
                  <a:srgbClr val="0E3B2E"/>
                </a:solidFill>
                <a:latin typeface="Arial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57800" y="4279392"/>
            <a:ext cx="2514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0E3B2E"/>
                </a:solidFill>
                <a:latin typeface="Arial"/>
              </a:rPr>
              <a:t>Subdominios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17720" y="4846320"/>
            <a:ext cx="297180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F2933"/>
                </a:solidFill>
                <a:latin typeface="Calibri"/>
              </a:rPr>
              <a:t>demo.clubdesocios.com.ar: un middleware reescribe a /c/&lt;slug&gt;; el modelo de datos no se tocó.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38160" y="3931920"/>
            <a:ext cx="352044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5E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Oval 24"/>
          <p:cNvSpPr/>
          <p:nvPr/>
        </p:nvSpPr>
        <p:spPr>
          <a:xfrm>
            <a:off x="8412480" y="4206240"/>
            <a:ext cx="502920" cy="502920"/>
          </a:xfrm>
          <a:prstGeom prst="ellipse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600"/>
              </a:spcAft>
            </a:pPr>
            <a:r>
              <a:rPr sz="1800" b="1" i="0">
                <a:solidFill>
                  <a:srgbClr val="0E3B2E"/>
                </a:solidFill>
                <a:latin typeface="Arial"/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52560" y="4279392"/>
            <a:ext cx="2514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0E3B2E"/>
                </a:solidFill>
                <a:latin typeface="Arial"/>
              </a:rPr>
              <a:t>Arquitectura modular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0" y="4846320"/>
            <a:ext cx="297180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F2933"/>
                </a:solidFill>
                <a:latin typeface="Calibri"/>
              </a:rPr>
              <a:t>11 módulos por dominio; pasarela y canales detrás de interfaces para pasar de simulado a real.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0E3B2E"/>
                </a:solidFill>
                <a:latin typeface="Arial"/>
              </a:rPr>
              <a:t>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5B6770"/>
                </a:solidFill>
                <a:latin typeface="Calibri"/>
              </a:rPr>
              <a:t>Un solo repo y un solo lenguaje, TypeScript, de punta a punta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818120" y="502920"/>
            <a:ext cx="914400" cy="329184"/>
          </a:xfrm>
          <a:prstGeom prst="roundRect">
            <a:avLst>
              <a:gd name="adj" fmla="val 8000"/>
            </a:avLst>
          </a:prstGeom>
          <a:noFill/>
          <a:ln w="15875">
            <a:solidFill>
              <a:srgbClr val="D5E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600"/>
              </a:spcAft>
            </a:pPr>
            <a:r>
              <a:rPr sz="1100" b="0" i="0">
                <a:solidFill>
                  <a:srgbClr val="5B6770"/>
                </a:solidFill>
                <a:latin typeface="Calibri"/>
              </a:rPr>
              <a:t>Problema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796528" y="502920"/>
            <a:ext cx="914400" cy="329184"/>
          </a:xfrm>
          <a:prstGeom prst="roundRect">
            <a:avLst>
              <a:gd name="adj" fmla="val 8000"/>
            </a:avLst>
          </a:prstGeom>
          <a:noFill/>
          <a:ln w="15875">
            <a:solidFill>
              <a:srgbClr val="D5E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600"/>
              </a:spcAft>
            </a:pPr>
            <a:r>
              <a:rPr sz="1100" b="0" i="0">
                <a:solidFill>
                  <a:srgbClr val="5B6770"/>
                </a:solidFill>
                <a:latin typeface="Calibri"/>
              </a:rPr>
              <a:t>Usuarios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774936" y="502920"/>
            <a:ext cx="914400" cy="329184"/>
          </a:xfrm>
          <a:prstGeom prst="roundRect">
            <a:avLst>
              <a:gd name="adj" fmla="val 8000"/>
            </a:avLst>
          </a:prstGeom>
          <a:noFill/>
          <a:ln w="15875">
            <a:solidFill>
              <a:srgbClr val="D5E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600"/>
              </a:spcAft>
            </a:pPr>
            <a:r>
              <a:rPr sz="1100" b="0" i="0">
                <a:solidFill>
                  <a:srgbClr val="5B6770"/>
                </a:solidFill>
                <a:latin typeface="Calibri"/>
              </a:rPr>
              <a:t>MVP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753344" y="502920"/>
            <a:ext cx="914400" cy="329184"/>
          </a:xfrm>
          <a:prstGeom prst="roundRect">
            <a:avLst>
              <a:gd name="adj" fmla="val 8000"/>
            </a:avLst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600"/>
              </a:spcAft>
            </a:pPr>
            <a:r>
              <a:rPr sz="1100" b="1" i="0">
                <a:solidFill>
                  <a:srgbClr val="0E3B2E"/>
                </a:solidFill>
                <a:latin typeface="Calibri"/>
              </a:rPr>
              <a:t>Stack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691640"/>
            <a:ext cx="3520440" cy="3108960"/>
          </a:xfrm>
          <a:prstGeom prst="roundRect">
            <a:avLst>
              <a:gd name="adj" fmla="val 8000"/>
            </a:avLst>
          </a:prstGeom>
          <a:solidFill>
            <a:srgbClr val="E7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22959" y="1920240"/>
            <a:ext cx="2971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1E7A4F"/>
                </a:solidFill>
                <a:latin typeface="Arial"/>
              </a:rPr>
              <a:t>INTERFAZ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2468880"/>
            <a:ext cx="297180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01168" indent="-201168">
              <a:spcAft>
                <a:spcPts val="800"/>
              </a:spcAft>
              <a:buChar char="•"/>
            </a:pPr>
            <a:r>
              <a:rPr sz="1600" b="0" i="0">
                <a:solidFill>
                  <a:srgbClr val="1F2933"/>
                </a:solidFill>
                <a:latin typeface="Calibri"/>
              </a:rPr>
              <a:t>Next.js 15 (App Router)</a:t>
            </a:r>
          </a:p>
          <a:p>
            <a:pPr algn="l" marL="201168" indent="-201168">
              <a:spcAft>
                <a:spcPts val="800"/>
              </a:spcAft>
              <a:buChar char="•"/>
            </a:pPr>
            <a:r>
              <a:rPr sz="1600" b="0" i="0">
                <a:solidFill>
                  <a:srgbClr val="1F2933"/>
                </a:solidFill>
                <a:latin typeface="Calibri"/>
              </a:rPr>
              <a:t>React 19</a:t>
            </a:r>
          </a:p>
          <a:p>
            <a:pPr algn="l" marL="201168" indent="-201168">
              <a:spcAft>
                <a:spcPts val="800"/>
              </a:spcAft>
              <a:buChar char="•"/>
            </a:pPr>
            <a:r>
              <a:rPr sz="1600" b="0" i="0">
                <a:solidFill>
                  <a:srgbClr val="1F2933"/>
                </a:solidFill>
                <a:latin typeface="Calibri"/>
              </a:rPr>
              <a:t>Tailwind CSS 4</a:t>
            </a:r>
          </a:p>
          <a:p>
            <a:pPr algn="l" marL="201168" indent="-201168">
              <a:spcAft>
                <a:spcPts val="800"/>
              </a:spcAft>
              <a:buChar char="•"/>
            </a:pPr>
            <a:r>
              <a:rPr sz="1600" b="0" i="0">
                <a:solidFill>
                  <a:srgbClr val="1F2933"/>
                </a:solidFill>
                <a:latin typeface="Calibri"/>
              </a:rPr>
              <a:t>Recharts para gráficos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114800" y="3246120"/>
            <a:ext cx="182879" cy="0"/>
          </a:xfrm>
          <a:prstGeom prst="line">
            <a:avLst/>
          </a:prstGeom>
          <a:ln w="25400">
            <a:solidFill>
              <a:srgbClr val="1E7A4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4343400" y="1691640"/>
            <a:ext cx="3520440" cy="3108960"/>
          </a:xfrm>
          <a:prstGeom prst="roundRect">
            <a:avLst>
              <a:gd name="adj" fmla="val 8000"/>
            </a:avLst>
          </a:prstGeom>
          <a:solidFill>
            <a:srgbClr val="0E3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4617720" y="1920240"/>
            <a:ext cx="2971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F2A93B"/>
                </a:solidFill>
                <a:latin typeface="Arial"/>
              </a:rPr>
              <a:t>SERVIDOR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2468880"/>
            <a:ext cx="297180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01168" indent="-201168">
              <a:spcAft>
                <a:spcPts val="800"/>
              </a:spcAft>
              <a:buChar char="•"/>
            </a:pPr>
            <a:r>
              <a:rPr sz="1600" b="0" i="0">
                <a:solidFill>
                  <a:srgbClr val="FFFFFF"/>
                </a:solidFill>
                <a:latin typeface="Calibri"/>
              </a:rPr>
              <a:t>Server actions y route handlers de Next.js</a:t>
            </a:r>
          </a:p>
          <a:p>
            <a:pPr algn="l" marL="201168" indent="-201168">
              <a:spcAft>
                <a:spcPts val="800"/>
              </a:spcAft>
              <a:buChar char="•"/>
            </a:pPr>
            <a:r>
              <a:rPr sz="1600" b="0" i="0">
                <a:solidFill>
                  <a:srgbClr val="FFFFFF"/>
                </a:solidFill>
                <a:latin typeface="Calibri"/>
              </a:rPr>
              <a:t>NextAuth: ingreso con link por mail</a:t>
            </a:r>
          </a:p>
          <a:p>
            <a:pPr algn="l" marL="201168" indent="-201168">
              <a:spcAft>
                <a:spcPts val="800"/>
              </a:spcAft>
              <a:buChar char="•"/>
            </a:pPr>
            <a:r>
              <a:rPr sz="1600" b="0" i="0">
                <a:solidFill>
                  <a:srgbClr val="FFFFFF"/>
                </a:solidFill>
                <a:latin typeface="Calibri"/>
              </a:rPr>
              <a:t>Zod para validar entradas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909560" y="3246120"/>
            <a:ext cx="182880" cy="0"/>
          </a:xfrm>
          <a:prstGeom prst="line">
            <a:avLst/>
          </a:prstGeom>
          <a:ln w="25400">
            <a:solidFill>
              <a:srgbClr val="1E7A4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8138160" y="1691640"/>
            <a:ext cx="3520440" cy="3108960"/>
          </a:xfrm>
          <a:prstGeom prst="roundRect">
            <a:avLst>
              <a:gd name="adj" fmla="val 8000"/>
            </a:avLst>
          </a:prstGeom>
          <a:solidFill>
            <a:srgbClr val="E7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412480" y="1920240"/>
            <a:ext cx="2971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1E7A4F"/>
                </a:solidFill>
                <a:latin typeface="Arial"/>
              </a:rPr>
              <a:t>DATOS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2468880"/>
            <a:ext cx="297180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01168" indent="-201168">
              <a:spcAft>
                <a:spcPts val="800"/>
              </a:spcAft>
              <a:buChar char="•"/>
            </a:pPr>
            <a:r>
              <a:rPr sz="1600" b="0" i="0">
                <a:solidFill>
                  <a:srgbClr val="1F2933"/>
                </a:solidFill>
                <a:latin typeface="Calibri"/>
              </a:rPr>
              <a:t>PostgreSQL (Neon)</a:t>
            </a:r>
          </a:p>
          <a:p>
            <a:pPr algn="l" marL="201168" indent="-201168">
              <a:spcAft>
                <a:spcPts val="800"/>
              </a:spcAft>
              <a:buChar char="•"/>
            </a:pPr>
            <a:r>
              <a:rPr sz="1600" b="0" i="0">
                <a:solidFill>
                  <a:srgbClr val="1F2933"/>
                </a:solidFill>
                <a:latin typeface="Calibri"/>
              </a:rPr>
              <a:t>Prisma ORM con migraciones</a:t>
            </a:r>
          </a:p>
          <a:p>
            <a:pPr algn="l" marL="201168" indent="-201168">
              <a:spcAft>
                <a:spcPts val="800"/>
              </a:spcAft>
              <a:buChar char="•"/>
            </a:pPr>
            <a:r>
              <a:rPr sz="1600" b="0" i="0">
                <a:solidFill>
                  <a:srgbClr val="1F2933"/>
                </a:solidFill>
                <a:latin typeface="Calibri"/>
              </a:rPr>
              <a:t>Multi-tenant: clubId en cada tabla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5074920"/>
            <a:ext cx="1110996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5E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22960" y="5074920"/>
            <a:ext cx="1060704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 i="0">
                <a:solidFill>
                  <a:srgbClr val="0E3B2E"/>
                </a:solidFill>
                <a:latin typeface="Calibri"/>
              </a:rPr>
              <a:t>Deploy en Vercel  ·  CI en GitHub Actions  ·  Tests con Vitest  ·  Docker y Codespaces para desarrollo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3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FFFFFF"/>
                </a:solidFill>
                <a:latin typeface="Arial"/>
              </a:rPr>
              <a:t>En resumen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600200"/>
            <a:ext cx="2606040" cy="3017520"/>
          </a:xfrm>
          <a:prstGeom prst="roundRect">
            <a:avLst>
              <a:gd name="adj" fmla="val 8000"/>
            </a:avLst>
          </a:prstGeom>
          <a:solidFill>
            <a:srgbClr val="2A5E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Oval 3"/>
          <p:cNvSpPr/>
          <p:nvPr/>
        </p:nvSpPr>
        <p:spPr>
          <a:xfrm>
            <a:off x="822959" y="1874519"/>
            <a:ext cx="502920" cy="502920"/>
          </a:xfrm>
          <a:prstGeom prst="ellipse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600"/>
              </a:spcAft>
            </a:pPr>
            <a:r>
              <a:rPr sz="1800" b="1" i="0">
                <a:solidFill>
                  <a:srgbClr val="0E3B2E"/>
                </a:solidFill>
                <a:latin typeface="Arial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59" y="2651760"/>
            <a:ext cx="210312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 i="0">
                <a:solidFill>
                  <a:srgbClr val="FFFFFF"/>
                </a:solidFill>
                <a:latin typeface="Arial"/>
              </a:rPr>
              <a:t>Problema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E7F3EC"/>
                </a:solidFill>
                <a:latin typeface="Calibri"/>
              </a:rPr>
              <a:t>Clubes que gestionan socios y cuotas con planillas y chats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64992" y="1600200"/>
            <a:ext cx="2606040" cy="3017520"/>
          </a:xfrm>
          <a:prstGeom prst="roundRect">
            <a:avLst>
              <a:gd name="adj" fmla="val 8000"/>
            </a:avLst>
          </a:prstGeom>
          <a:solidFill>
            <a:srgbClr val="2A5E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3639312" y="1874519"/>
            <a:ext cx="502920" cy="502920"/>
          </a:xfrm>
          <a:prstGeom prst="ellipse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600"/>
              </a:spcAft>
            </a:pPr>
            <a:r>
              <a:rPr sz="1800" b="1" i="0">
                <a:solidFill>
                  <a:srgbClr val="0E3B2E"/>
                </a:solidFill>
                <a:latin typeface="Arial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39312" y="2651760"/>
            <a:ext cx="210312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 i="0">
                <a:solidFill>
                  <a:srgbClr val="FFFFFF"/>
                </a:solidFill>
                <a:latin typeface="Arial"/>
              </a:rPr>
              <a:t>Usuarios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E7F3EC"/>
                </a:solidFill>
                <a:latin typeface="Calibri"/>
              </a:rPr>
              <a:t>Admin general, admin de club y socio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81344" y="1600200"/>
            <a:ext cx="2606040" cy="3017520"/>
          </a:xfrm>
          <a:prstGeom prst="roundRect">
            <a:avLst>
              <a:gd name="adj" fmla="val 8000"/>
            </a:avLst>
          </a:prstGeom>
          <a:solidFill>
            <a:srgbClr val="2A5E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Oval 9"/>
          <p:cNvSpPr/>
          <p:nvPr/>
        </p:nvSpPr>
        <p:spPr>
          <a:xfrm>
            <a:off x="6455664" y="1874519"/>
            <a:ext cx="502920" cy="502920"/>
          </a:xfrm>
          <a:prstGeom prst="ellipse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600"/>
              </a:spcAft>
            </a:pPr>
            <a:r>
              <a:rPr sz="1800" b="1" i="0">
                <a:solidFill>
                  <a:srgbClr val="0E3B2E"/>
                </a:solidFill>
                <a:latin typeface="Arial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55664" y="2651760"/>
            <a:ext cx="210312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 i="0">
                <a:solidFill>
                  <a:srgbClr val="FFFFFF"/>
                </a:solidFill>
                <a:latin typeface="Arial"/>
              </a:rPr>
              <a:t>MVP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E7F3EC"/>
                </a:solidFill>
                <a:latin typeface="Calibri"/>
              </a:rPr>
              <a:t>Padrón, cuota, pagos y actividades con cupo; el socio ve si está al día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97696" y="1600200"/>
            <a:ext cx="2606040" cy="3017520"/>
          </a:xfrm>
          <a:prstGeom prst="roundRect">
            <a:avLst>
              <a:gd name="adj" fmla="val 8000"/>
            </a:avLst>
          </a:prstGeom>
          <a:solidFill>
            <a:srgbClr val="2A5E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Oval 12"/>
          <p:cNvSpPr/>
          <p:nvPr/>
        </p:nvSpPr>
        <p:spPr>
          <a:xfrm>
            <a:off x="9272016" y="1874519"/>
            <a:ext cx="502920" cy="502920"/>
          </a:xfrm>
          <a:prstGeom prst="ellipse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600"/>
              </a:spcAft>
            </a:pPr>
            <a:r>
              <a:rPr sz="1800" b="1" i="0">
                <a:solidFill>
                  <a:srgbClr val="0E3B2E"/>
                </a:solidFill>
                <a:latin typeface="Arial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72016" y="2651760"/>
            <a:ext cx="210312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 i="0">
                <a:solidFill>
                  <a:srgbClr val="FFFFFF"/>
                </a:solidFill>
                <a:latin typeface="Arial"/>
              </a:rPr>
              <a:t>Stack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E7F3EC"/>
                </a:solidFill>
                <a:latin typeface="Calibri"/>
              </a:rPr>
              <a:t>Next.js + React · NextAuth · PostgreSQL + Prisma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1206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 i="0">
                <a:solidFill>
                  <a:srgbClr val="FFFFFF"/>
                </a:solidFill>
                <a:latin typeface="Arial"/>
              </a:rPr>
              <a:t>¡Gracias! ¿Preguntas?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6692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F2A93B"/>
                </a:solidFill>
                <a:latin typeface="Courier New"/>
              </a:rPr>
              <a:t>github.com/ivollonoc/IISAIA-TF  ·  clubdesocios.com.ar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